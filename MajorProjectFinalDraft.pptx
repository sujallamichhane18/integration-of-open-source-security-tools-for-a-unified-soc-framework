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62D38-C856-237F-64DF-67192621CCFF}" v="10" dt="2026-03-31T14:59:42.372"/>
    <p1510:client id="{3AE952B8-3774-837C-FC07-3DD8DA2D634C}" v="9" dt="2026-03-31T15:01:49.151"/>
    <p1510:client id="{B690F348-1669-7961-261B-EA1812327A1E}" v="2" dt="2026-03-31T05:56:27.536"/>
    <p1510:client id="{FF01F114-4A10-EE1E-5B75-ABC3B3C1FF9A}" v="2" dt="2026-03-31T14:55:45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hyperlink" Target="https://otx.alienvault.com/" TargetMode="External"/><Relationship Id="rId3" Type="http://schemas.openxmlformats.org/officeDocument/2006/relationships/hyperlink" Target="https://docs.strangebee.com/thehive" TargetMode="External"/><Relationship Id="rId7" Type="http://schemas.openxmlformats.org/officeDocument/2006/relationships/hyperlink" Target="https://attack.mitre.org/" TargetMode="External"/><Relationship Id="rId2" Type="http://schemas.openxmlformats.org/officeDocument/2006/relationships/hyperlink" Target="https://shuffler.io/docs" TargetMode="External"/><Relationship Id="rId1" Type="http://schemas.openxmlformats.org/officeDocument/2006/relationships/hyperlink" Target="https://documentation.wazuh.com/" TargetMode="External"/><Relationship Id="rId6" Type="http://schemas.openxmlformats.org/officeDocument/2006/relationships/hyperlink" Target="https://docs.netgate.com/pfsense" TargetMode="External"/><Relationship Id="rId5" Type="http://schemas.openxmlformats.org/officeDocument/2006/relationships/hyperlink" Target="https://suricata.io/documentation" TargetMode="External"/><Relationship Id="rId4" Type="http://schemas.openxmlformats.org/officeDocument/2006/relationships/hyperlink" Target="https://www.misp-project.org/" TargetMode="External"/><Relationship Id="rId9" Type="http://schemas.openxmlformats.org/officeDocument/2006/relationships/hyperlink" Target="https://developers.virustotal.com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hyperlink" Target="https://otx.alienvault.com/" TargetMode="External"/><Relationship Id="rId3" Type="http://schemas.openxmlformats.org/officeDocument/2006/relationships/hyperlink" Target="https://docs.strangebee.com/thehive" TargetMode="External"/><Relationship Id="rId7" Type="http://schemas.openxmlformats.org/officeDocument/2006/relationships/hyperlink" Target="https://attack.mitre.org/" TargetMode="External"/><Relationship Id="rId2" Type="http://schemas.openxmlformats.org/officeDocument/2006/relationships/hyperlink" Target="https://shuffler.io/docs" TargetMode="External"/><Relationship Id="rId1" Type="http://schemas.openxmlformats.org/officeDocument/2006/relationships/hyperlink" Target="https://documentation.wazuh.com/" TargetMode="External"/><Relationship Id="rId6" Type="http://schemas.openxmlformats.org/officeDocument/2006/relationships/hyperlink" Target="https://docs.netgate.com/pfsense" TargetMode="External"/><Relationship Id="rId5" Type="http://schemas.openxmlformats.org/officeDocument/2006/relationships/hyperlink" Target="https://suricata.io/documentation" TargetMode="External"/><Relationship Id="rId4" Type="http://schemas.openxmlformats.org/officeDocument/2006/relationships/hyperlink" Target="https://www.misp-project.org/" TargetMode="External"/><Relationship Id="rId9" Type="http://schemas.openxmlformats.org/officeDocument/2006/relationships/hyperlink" Target="https://developers.virustotal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6A603F-B6AC-4C20-9F0B-E45F6FF96F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C73B94-7B7F-492F-83C6-31619AD83460}">
      <dgm:prSet/>
      <dgm:spPr/>
      <dgm:t>
        <a:bodyPr/>
        <a:lstStyle/>
        <a:p>
          <a:r>
            <a:rPr lang="en-US" baseline="0"/>
            <a:t>ML-Based Anomaly Detection</a:t>
          </a:r>
          <a:endParaRPr lang="en-US"/>
        </a:p>
      </dgm:t>
    </dgm:pt>
    <dgm:pt modelId="{6BCED301-D3DB-41EE-A43C-C5FD97512E99}" type="parTrans" cxnId="{EFD99D6E-FEF7-429C-B6AD-BE1842BF20C8}">
      <dgm:prSet/>
      <dgm:spPr/>
      <dgm:t>
        <a:bodyPr/>
        <a:lstStyle/>
        <a:p>
          <a:endParaRPr lang="en-US"/>
        </a:p>
      </dgm:t>
    </dgm:pt>
    <dgm:pt modelId="{DAE8CBBD-0EDE-42E2-BEB2-275D205A93C6}" type="sibTrans" cxnId="{EFD99D6E-FEF7-429C-B6AD-BE1842BF20C8}">
      <dgm:prSet/>
      <dgm:spPr/>
      <dgm:t>
        <a:bodyPr/>
        <a:lstStyle/>
        <a:p>
          <a:endParaRPr lang="en-US"/>
        </a:p>
      </dgm:t>
    </dgm:pt>
    <dgm:pt modelId="{30355E41-7A06-47EA-B92A-FD5F15314E6F}">
      <dgm:prSet/>
      <dgm:spPr/>
      <dgm:t>
        <a:bodyPr/>
        <a:lstStyle/>
        <a:p>
          <a:r>
            <a:rPr lang="en-US" baseline="0"/>
            <a:t>Expanded Endpoint Coverage</a:t>
          </a:r>
          <a:endParaRPr lang="en-US"/>
        </a:p>
      </dgm:t>
    </dgm:pt>
    <dgm:pt modelId="{CC524A78-6D2F-42F8-B7CF-2FB601CF81F8}" type="parTrans" cxnId="{166BDED3-D887-473D-BBBF-83E42296F2A2}">
      <dgm:prSet/>
      <dgm:spPr/>
      <dgm:t>
        <a:bodyPr/>
        <a:lstStyle/>
        <a:p>
          <a:endParaRPr lang="en-US"/>
        </a:p>
      </dgm:t>
    </dgm:pt>
    <dgm:pt modelId="{007191F8-42CF-4EC5-95E0-AB5A4E4EE0B6}" type="sibTrans" cxnId="{166BDED3-D887-473D-BBBF-83E42296F2A2}">
      <dgm:prSet/>
      <dgm:spPr/>
      <dgm:t>
        <a:bodyPr/>
        <a:lstStyle/>
        <a:p>
          <a:endParaRPr lang="en-US"/>
        </a:p>
      </dgm:t>
    </dgm:pt>
    <dgm:pt modelId="{7F6BFE01-6BC4-4CF5-8D73-9191BF34FE58}">
      <dgm:prSet/>
      <dgm:spPr/>
      <dgm:t>
        <a:bodyPr/>
        <a:lstStyle/>
        <a:p>
          <a:r>
            <a:rPr lang="en-US" baseline="0"/>
            <a:t>Deception Technology (Honeypots)</a:t>
          </a:r>
          <a:endParaRPr lang="en-US"/>
        </a:p>
      </dgm:t>
    </dgm:pt>
    <dgm:pt modelId="{2BB73B53-B935-4717-AD32-92483DA9B0A8}" type="parTrans" cxnId="{9928CA2E-5CB6-48F1-AD86-146B02867BAD}">
      <dgm:prSet/>
      <dgm:spPr/>
      <dgm:t>
        <a:bodyPr/>
        <a:lstStyle/>
        <a:p>
          <a:endParaRPr lang="en-US"/>
        </a:p>
      </dgm:t>
    </dgm:pt>
    <dgm:pt modelId="{14AE9294-EBB3-4646-A5B2-45A69734E404}" type="sibTrans" cxnId="{9928CA2E-5CB6-48F1-AD86-146B02867BAD}">
      <dgm:prSet/>
      <dgm:spPr/>
      <dgm:t>
        <a:bodyPr/>
        <a:lstStyle/>
        <a:p>
          <a:endParaRPr lang="en-US"/>
        </a:p>
      </dgm:t>
    </dgm:pt>
    <dgm:pt modelId="{6DF34621-58E6-4C36-8C10-C82C4932A0E2}">
      <dgm:prSet/>
      <dgm:spPr/>
      <dgm:t>
        <a:bodyPr/>
        <a:lstStyle/>
        <a:p>
          <a:r>
            <a:rPr lang="en-US" baseline="0"/>
            <a:t>SOC Playbook Automation</a:t>
          </a:r>
          <a:endParaRPr lang="en-US"/>
        </a:p>
      </dgm:t>
    </dgm:pt>
    <dgm:pt modelId="{F62B1591-2505-46F6-81F0-D16E5196E18D}" type="parTrans" cxnId="{01C8BC8A-ED50-401E-8003-2E1830B6C6AC}">
      <dgm:prSet/>
      <dgm:spPr/>
      <dgm:t>
        <a:bodyPr/>
        <a:lstStyle/>
        <a:p>
          <a:endParaRPr lang="en-US"/>
        </a:p>
      </dgm:t>
    </dgm:pt>
    <dgm:pt modelId="{41AD059D-2019-4AA3-A2DE-A9B12DCE5A05}" type="sibTrans" cxnId="{01C8BC8A-ED50-401E-8003-2E1830B6C6AC}">
      <dgm:prSet/>
      <dgm:spPr/>
      <dgm:t>
        <a:bodyPr/>
        <a:lstStyle/>
        <a:p>
          <a:endParaRPr lang="en-US"/>
        </a:p>
      </dgm:t>
    </dgm:pt>
    <dgm:pt modelId="{E4F59149-EE6D-4072-9593-B9F1B354B8B2}" type="pres">
      <dgm:prSet presAssocID="{C66A603F-B6AC-4C20-9F0B-E45F6FF96F56}" presName="root" presStyleCnt="0">
        <dgm:presLayoutVars>
          <dgm:dir/>
          <dgm:resizeHandles val="exact"/>
        </dgm:presLayoutVars>
      </dgm:prSet>
      <dgm:spPr/>
    </dgm:pt>
    <dgm:pt modelId="{A7EE10C8-B5F2-47DA-86D5-B62ECA496D8E}" type="pres">
      <dgm:prSet presAssocID="{B5C73B94-7B7F-492F-83C6-31619AD83460}" presName="compNode" presStyleCnt="0"/>
      <dgm:spPr/>
    </dgm:pt>
    <dgm:pt modelId="{C69CEAB6-5829-4D17-A9F3-18030CCB1FC5}" type="pres">
      <dgm:prSet presAssocID="{B5C73B94-7B7F-492F-83C6-31619AD83460}" presName="bgRect" presStyleLbl="bgShp" presStyleIdx="0" presStyleCnt="4"/>
      <dgm:spPr/>
    </dgm:pt>
    <dgm:pt modelId="{424293EC-BC1B-4DEE-8ED8-779924BB2C99}" type="pres">
      <dgm:prSet presAssocID="{B5C73B94-7B7F-492F-83C6-31619AD8346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9C0ED38-0304-4ECA-A7A9-A993867B6DB2}" type="pres">
      <dgm:prSet presAssocID="{B5C73B94-7B7F-492F-83C6-31619AD83460}" presName="spaceRect" presStyleCnt="0"/>
      <dgm:spPr/>
    </dgm:pt>
    <dgm:pt modelId="{0C5F461C-5473-4EB8-8FFE-2698AF5FE592}" type="pres">
      <dgm:prSet presAssocID="{B5C73B94-7B7F-492F-83C6-31619AD83460}" presName="parTx" presStyleLbl="revTx" presStyleIdx="0" presStyleCnt="4">
        <dgm:presLayoutVars>
          <dgm:chMax val="0"/>
          <dgm:chPref val="0"/>
        </dgm:presLayoutVars>
      </dgm:prSet>
      <dgm:spPr/>
    </dgm:pt>
    <dgm:pt modelId="{A173B904-AEB7-46BB-8508-48D36DC4B425}" type="pres">
      <dgm:prSet presAssocID="{DAE8CBBD-0EDE-42E2-BEB2-275D205A93C6}" presName="sibTrans" presStyleCnt="0"/>
      <dgm:spPr/>
    </dgm:pt>
    <dgm:pt modelId="{356AECEA-A796-43B3-A03E-A85BE387039F}" type="pres">
      <dgm:prSet presAssocID="{30355E41-7A06-47EA-B92A-FD5F15314E6F}" presName="compNode" presStyleCnt="0"/>
      <dgm:spPr/>
    </dgm:pt>
    <dgm:pt modelId="{386F2F72-A7AB-481C-81E4-61A11A340AEB}" type="pres">
      <dgm:prSet presAssocID="{30355E41-7A06-47EA-B92A-FD5F15314E6F}" presName="bgRect" presStyleLbl="bgShp" presStyleIdx="1" presStyleCnt="4"/>
      <dgm:spPr/>
    </dgm:pt>
    <dgm:pt modelId="{88FD1DC1-362C-440E-9065-D141310A4A1E}" type="pres">
      <dgm:prSet presAssocID="{30355E41-7A06-47EA-B92A-FD5F15314E6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C577D4E-2B32-41D2-9E64-B77E97E92161}" type="pres">
      <dgm:prSet presAssocID="{30355E41-7A06-47EA-B92A-FD5F15314E6F}" presName="spaceRect" presStyleCnt="0"/>
      <dgm:spPr/>
    </dgm:pt>
    <dgm:pt modelId="{D8C962E5-0E3A-444C-94D2-88FF0B4880C4}" type="pres">
      <dgm:prSet presAssocID="{30355E41-7A06-47EA-B92A-FD5F15314E6F}" presName="parTx" presStyleLbl="revTx" presStyleIdx="1" presStyleCnt="4">
        <dgm:presLayoutVars>
          <dgm:chMax val="0"/>
          <dgm:chPref val="0"/>
        </dgm:presLayoutVars>
      </dgm:prSet>
      <dgm:spPr/>
    </dgm:pt>
    <dgm:pt modelId="{11551243-71E1-4B0C-AC78-1BCF81063F2A}" type="pres">
      <dgm:prSet presAssocID="{007191F8-42CF-4EC5-95E0-AB5A4E4EE0B6}" presName="sibTrans" presStyleCnt="0"/>
      <dgm:spPr/>
    </dgm:pt>
    <dgm:pt modelId="{CA93331A-60AE-40A7-B750-644CECC50147}" type="pres">
      <dgm:prSet presAssocID="{7F6BFE01-6BC4-4CF5-8D73-9191BF34FE58}" presName="compNode" presStyleCnt="0"/>
      <dgm:spPr/>
    </dgm:pt>
    <dgm:pt modelId="{E8F8888E-3651-43D8-9F65-B3904E6EDC50}" type="pres">
      <dgm:prSet presAssocID="{7F6BFE01-6BC4-4CF5-8D73-9191BF34FE58}" presName="bgRect" presStyleLbl="bgShp" presStyleIdx="2" presStyleCnt="4"/>
      <dgm:spPr/>
    </dgm:pt>
    <dgm:pt modelId="{9560E4D1-81B5-4930-98A3-CCA4C484AE1C}" type="pres">
      <dgm:prSet presAssocID="{7F6BFE01-6BC4-4CF5-8D73-9191BF34FE5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23B7368D-7312-4E1C-877B-5258D3DDCE21}" type="pres">
      <dgm:prSet presAssocID="{7F6BFE01-6BC4-4CF5-8D73-9191BF34FE58}" presName="spaceRect" presStyleCnt="0"/>
      <dgm:spPr/>
    </dgm:pt>
    <dgm:pt modelId="{2A91DADA-7A92-4BC7-AA67-516DDBA73A25}" type="pres">
      <dgm:prSet presAssocID="{7F6BFE01-6BC4-4CF5-8D73-9191BF34FE58}" presName="parTx" presStyleLbl="revTx" presStyleIdx="2" presStyleCnt="4">
        <dgm:presLayoutVars>
          <dgm:chMax val="0"/>
          <dgm:chPref val="0"/>
        </dgm:presLayoutVars>
      </dgm:prSet>
      <dgm:spPr/>
    </dgm:pt>
    <dgm:pt modelId="{A98E8745-2D3A-4402-B939-1013C263C71B}" type="pres">
      <dgm:prSet presAssocID="{14AE9294-EBB3-4646-A5B2-45A69734E404}" presName="sibTrans" presStyleCnt="0"/>
      <dgm:spPr/>
    </dgm:pt>
    <dgm:pt modelId="{36869133-42DA-4E87-93E8-6494BF6B20B9}" type="pres">
      <dgm:prSet presAssocID="{6DF34621-58E6-4C36-8C10-C82C4932A0E2}" presName="compNode" presStyleCnt="0"/>
      <dgm:spPr/>
    </dgm:pt>
    <dgm:pt modelId="{1E82798A-D33C-4019-B715-D89BE2421CB9}" type="pres">
      <dgm:prSet presAssocID="{6DF34621-58E6-4C36-8C10-C82C4932A0E2}" presName="bgRect" presStyleLbl="bgShp" presStyleIdx="3" presStyleCnt="4"/>
      <dgm:spPr/>
    </dgm:pt>
    <dgm:pt modelId="{C904E773-6FD7-44E2-9AB6-E1C26595299E}" type="pres">
      <dgm:prSet presAssocID="{6DF34621-58E6-4C36-8C10-C82C4932A0E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394B8A89-8A41-453A-BA37-9B407C8FD555}" type="pres">
      <dgm:prSet presAssocID="{6DF34621-58E6-4C36-8C10-C82C4932A0E2}" presName="spaceRect" presStyleCnt="0"/>
      <dgm:spPr/>
    </dgm:pt>
    <dgm:pt modelId="{ECCE3794-6AB0-425D-90EF-592EB6323C8F}" type="pres">
      <dgm:prSet presAssocID="{6DF34621-58E6-4C36-8C10-C82C4932A0E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7241210-588F-4A63-AFEF-6C9884BDF159}" type="presOf" srcId="{C66A603F-B6AC-4C20-9F0B-E45F6FF96F56}" destId="{E4F59149-EE6D-4072-9593-B9F1B354B8B2}" srcOrd="0" destOrd="0" presId="urn:microsoft.com/office/officeart/2018/2/layout/IconVerticalSolidList"/>
    <dgm:cxn modelId="{9928CA2E-5CB6-48F1-AD86-146B02867BAD}" srcId="{C66A603F-B6AC-4C20-9F0B-E45F6FF96F56}" destId="{7F6BFE01-6BC4-4CF5-8D73-9191BF34FE58}" srcOrd="2" destOrd="0" parTransId="{2BB73B53-B935-4717-AD32-92483DA9B0A8}" sibTransId="{14AE9294-EBB3-4646-A5B2-45A69734E404}"/>
    <dgm:cxn modelId="{81FD4135-8EA2-4D31-9BEA-8891A9D2DDF6}" type="presOf" srcId="{30355E41-7A06-47EA-B92A-FD5F15314E6F}" destId="{D8C962E5-0E3A-444C-94D2-88FF0B4880C4}" srcOrd="0" destOrd="0" presId="urn:microsoft.com/office/officeart/2018/2/layout/IconVerticalSolidList"/>
    <dgm:cxn modelId="{02BB6E5C-A45D-4E88-B5AA-815B97917090}" type="presOf" srcId="{7F6BFE01-6BC4-4CF5-8D73-9191BF34FE58}" destId="{2A91DADA-7A92-4BC7-AA67-516DDBA73A25}" srcOrd="0" destOrd="0" presId="urn:microsoft.com/office/officeart/2018/2/layout/IconVerticalSolidList"/>
    <dgm:cxn modelId="{44117147-8BE6-46FF-9E06-656094DE0DE5}" type="presOf" srcId="{B5C73B94-7B7F-492F-83C6-31619AD83460}" destId="{0C5F461C-5473-4EB8-8FFE-2698AF5FE592}" srcOrd="0" destOrd="0" presId="urn:microsoft.com/office/officeart/2018/2/layout/IconVerticalSolidList"/>
    <dgm:cxn modelId="{EFD99D6E-FEF7-429C-B6AD-BE1842BF20C8}" srcId="{C66A603F-B6AC-4C20-9F0B-E45F6FF96F56}" destId="{B5C73B94-7B7F-492F-83C6-31619AD83460}" srcOrd="0" destOrd="0" parTransId="{6BCED301-D3DB-41EE-A43C-C5FD97512E99}" sibTransId="{DAE8CBBD-0EDE-42E2-BEB2-275D205A93C6}"/>
    <dgm:cxn modelId="{01C8BC8A-ED50-401E-8003-2E1830B6C6AC}" srcId="{C66A603F-B6AC-4C20-9F0B-E45F6FF96F56}" destId="{6DF34621-58E6-4C36-8C10-C82C4932A0E2}" srcOrd="3" destOrd="0" parTransId="{F62B1591-2505-46F6-81F0-D16E5196E18D}" sibTransId="{41AD059D-2019-4AA3-A2DE-A9B12DCE5A05}"/>
    <dgm:cxn modelId="{166BDED3-D887-473D-BBBF-83E42296F2A2}" srcId="{C66A603F-B6AC-4C20-9F0B-E45F6FF96F56}" destId="{30355E41-7A06-47EA-B92A-FD5F15314E6F}" srcOrd="1" destOrd="0" parTransId="{CC524A78-6D2F-42F8-B7CF-2FB601CF81F8}" sibTransId="{007191F8-42CF-4EC5-95E0-AB5A4E4EE0B6}"/>
    <dgm:cxn modelId="{19DE8AEE-D7AC-47F0-AF87-773FC160FF71}" type="presOf" srcId="{6DF34621-58E6-4C36-8C10-C82C4932A0E2}" destId="{ECCE3794-6AB0-425D-90EF-592EB6323C8F}" srcOrd="0" destOrd="0" presId="urn:microsoft.com/office/officeart/2018/2/layout/IconVerticalSolidList"/>
    <dgm:cxn modelId="{B7F1DCAE-757F-4F2D-B024-9586ECC5B0FA}" type="presParOf" srcId="{E4F59149-EE6D-4072-9593-B9F1B354B8B2}" destId="{A7EE10C8-B5F2-47DA-86D5-B62ECA496D8E}" srcOrd="0" destOrd="0" presId="urn:microsoft.com/office/officeart/2018/2/layout/IconVerticalSolidList"/>
    <dgm:cxn modelId="{C347C0A7-0B5A-439F-BCAB-F79D5ED1AC52}" type="presParOf" srcId="{A7EE10C8-B5F2-47DA-86D5-B62ECA496D8E}" destId="{C69CEAB6-5829-4D17-A9F3-18030CCB1FC5}" srcOrd="0" destOrd="0" presId="urn:microsoft.com/office/officeart/2018/2/layout/IconVerticalSolidList"/>
    <dgm:cxn modelId="{ABE980F6-166F-4E1B-B14B-8208AB3AC4E8}" type="presParOf" srcId="{A7EE10C8-B5F2-47DA-86D5-B62ECA496D8E}" destId="{424293EC-BC1B-4DEE-8ED8-779924BB2C99}" srcOrd="1" destOrd="0" presId="urn:microsoft.com/office/officeart/2018/2/layout/IconVerticalSolidList"/>
    <dgm:cxn modelId="{AD6A9D93-4318-4914-8A31-0D6578EE9C49}" type="presParOf" srcId="{A7EE10C8-B5F2-47DA-86D5-B62ECA496D8E}" destId="{59C0ED38-0304-4ECA-A7A9-A993867B6DB2}" srcOrd="2" destOrd="0" presId="urn:microsoft.com/office/officeart/2018/2/layout/IconVerticalSolidList"/>
    <dgm:cxn modelId="{5958B786-DDF2-4B17-B548-349BE8B60A2E}" type="presParOf" srcId="{A7EE10C8-B5F2-47DA-86D5-B62ECA496D8E}" destId="{0C5F461C-5473-4EB8-8FFE-2698AF5FE592}" srcOrd="3" destOrd="0" presId="urn:microsoft.com/office/officeart/2018/2/layout/IconVerticalSolidList"/>
    <dgm:cxn modelId="{9C23710E-E03A-4D88-A065-384935E7C2F6}" type="presParOf" srcId="{E4F59149-EE6D-4072-9593-B9F1B354B8B2}" destId="{A173B904-AEB7-46BB-8508-48D36DC4B425}" srcOrd="1" destOrd="0" presId="urn:microsoft.com/office/officeart/2018/2/layout/IconVerticalSolidList"/>
    <dgm:cxn modelId="{712BA6F1-7FE2-4C35-83A7-5E54B0EC38B6}" type="presParOf" srcId="{E4F59149-EE6D-4072-9593-B9F1B354B8B2}" destId="{356AECEA-A796-43B3-A03E-A85BE387039F}" srcOrd="2" destOrd="0" presId="urn:microsoft.com/office/officeart/2018/2/layout/IconVerticalSolidList"/>
    <dgm:cxn modelId="{A11213F4-454A-4207-80C7-922307B157BD}" type="presParOf" srcId="{356AECEA-A796-43B3-A03E-A85BE387039F}" destId="{386F2F72-A7AB-481C-81E4-61A11A340AEB}" srcOrd="0" destOrd="0" presId="urn:microsoft.com/office/officeart/2018/2/layout/IconVerticalSolidList"/>
    <dgm:cxn modelId="{6F75A0FC-E19E-472C-9036-3761F8118BEC}" type="presParOf" srcId="{356AECEA-A796-43B3-A03E-A85BE387039F}" destId="{88FD1DC1-362C-440E-9065-D141310A4A1E}" srcOrd="1" destOrd="0" presId="urn:microsoft.com/office/officeart/2018/2/layout/IconVerticalSolidList"/>
    <dgm:cxn modelId="{2BC66C53-EF23-41A0-9D08-3EBB66754BF9}" type="presParOf" srcId="{356AECEA-A796-43B3-A03E-A85BE387039F}" destId="{5C577D4E-2B32-41D2-9E64-B77E97E92161}" srcOrd="2" destOrd="0" presId="urn:microsoft.com/office/officeart/2018/2/layout/IconVerticalSolidList"/>
    <dgm:cxn modelId="{E4A7BAE8-CCC7-491E-8065-E30B1AF4174C}" type="presParOf" srcId="{356AECEA-A796-43B3-A03E-A85BE387039F}" destId="{D8C962E5-0E3A-444C-94D2-88FF0B4880C4}" srcOrd="3" destOrd="0" presId="urn:microsoft.com/office/officeart/2018/2/layout/IconVerticalSolidList"/>
    <dgm:cxn modelId="{64AF696F-F020-44BE-835E-2AC1D26ED3BA}" type="presParOf" srcId="{E4F59149-EE6D-4072-9593-B9F1B354B8B2}" destId="{11551243-71E1-4B0C-AC78-1BCF81063F2A}" srcOrd="3" destOrd="0" presId="urn:microsoft.com/office/officeart/2018/2/layout/IconVerticalSolidList"/>
    <dgm:cxn modelId="{6A4B870C-2B6F-479A-B369-7E4C52E8CAC6}" type="presParOf" srcId="{E4F59149-EE6D-4072-9593-B9F1B354B8B2}" destId="{CA93331A-60AE-40A7-B750-644CECC50147}" srcOrd="4" destOrd="0" presId="urn:microsoft.com/office/officeart/2018/2/layout/IconVerticalSolidList"/>
    <dgm:cxn modelId="{2A4EC2FE-F784-496E-874C-842CF770FD56}" type="presParOf" srcId="{CA93331A-60AE-40A7-B750-644CECC50147}" destId="{E8F8888E-3651-43D8-9F65-B3904E6EDC50}" srcOrd="0" destOrd="0" presId="urn:microsoft.com/office/officeart/2018/2/layout/IconVerticalSolidList"/>
    <dgm:cxn modelId="{79D69435-43EE-4729-90AB-C17E744773CA}" type="presParOf" srcId="{CA93331A-60AE-40A7-B750-644CECC50147}" destId="{9560E4D1-81B5-4930-98A3-CCA4C484AE1C}" srcOrd="1" destOrd="0" presId="urn:microsoft.com/office/officeart/2018/2/layout/IconVerticalSolidList"/>
    <dgm:cxn modelId="{76939EDF-0FE0-48F5-B333-C59D4EA2B663}" type="presParOf" srcId="{CA93331A-60AE-40A7-B750-644CECC50147}" destId="{23B7368D-7312-4E1C-877B-5258D3DDCE21}" srcOrd="2" destOrd="0" presId="urn:microsoft.com/office/officeart/2018/2/layout/IconVerticalSolidList"/>
    <dgm:cxn modelId="{B276FDAF-EDDA-4B21-98FF-8CF5D07BA0E5}" type="presParOf" srcId="{CA93331A-60AE-40A7-B750-644CECC50147}" destId="{2A91DADA-7A92-4BC7-AA67-516DDBA73A25}" srcOrd="3" destOrd="0" presId="urn:microsoft.com/office/officeart/2018/2/layout/IconVerticalSolidList"/>
    <dgm:cxn modelId="{95524BD9-A98B-466E-A442-32AE5ED14B88}" type="presParOf" srcId="{E4F59149-EE6D-4072-9593-B9F1B354B8B2}" destId="{A98E8745-2D3A-4402-B939-1013C263C71B}" srcOrd="5" destOrd="0" presId="urn:microsoft.com/office/officeart/2018/2/layout/IconVerticalSolidList"/>
    <dgm:cxn modelId="{D398DD12-AD6F-4AA6-A691-EF4CC186DB97}" type="presParOf" srcId="{E4F59149-EE6D-4072-9593-B9F1B354B8B2}" destId="{36869133-42DA-4E87-93E8-6494BF6B20B9}" srcOrd="6" destOrd="0" presId="urn:microsoft.com/office/officeart/2018/2/layout/IconVerticalSolidList"/>
    <dgm:cxn modelId="{D6753CE1-F220-419C-A962-A52B82C5B0A6}" type="presParOf" srcId="{36869133-42DA-4E87-93E8-6494BF6B20B9}" destId="{1E82798A-D33C-4019-B715-D89BE2421CB9}" srcOrd="0" destOrd="0" presId="urn:microsoft.com/office/officeart/2018/2/layout/IconVerticalSolidList"/>
    <dgm:cxn modelId="{5BC1E1D5-E304-440A-A219-A8884554A186}" type="presParOf" srcId="{36869133-42DA-4E87-93E8-6494BF6B20B9}" destId="{C904E773-6FD7-44E2-9AB6-E1C26595299E}" srcOrd="1" destOrd="0" presId="urn:microsoft.com/office/officeart/2018/2/layout/IconVerticalSolidList"/>
    <dgm:cxn modelId="{87E67814-2424-4D28-83A5-4F0CD805EDF0}" type="presParOf" srcId="{36869133-42DA-4E87-93E8-6494BF6B20B9}" destId="{394B8A89-8A41-453A-BA37-9B407C8FD555}" srcOrd="2" destOrd="0" presId="urn:microsoft.com/office/officeart/2018/2/layout/IconVerticalSolidList"/>
    <dgm:cxn modelId="{A544DA43-8918-416E-A18D-D5BE19B1F3F4}" type="presParOf" srcId="{36869133-42DA-4E87-93E8-6494BF6B20B9}" destId="{ECCE3794-6AB0-425D-90EF-592EB6323C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0D9AD3-0B4F-4BA3-B0F0-B2151C701B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3FF3D6-9D43-4991-BBCF-55E31C5E4026}">
      <dgm:prSet/>
      <dgm:spPr/>
      <dgm:t>
        <a:bodyPr/>
        <a:lstStyle/>
        <a:p>
          <a:r>
            <a:rPr lang="en-US" b="1"/>
            <a:t>All seven open-source tools were successfully integrated</a:t>
          </a:r>
          <a:r>
            <a:rPr lang="en-US"/>
            <a:t> into a seamless detect–enrich–respond pipeline</a:t>
          </a:r>
        </a:p>
      </dgm:t>
    </dgm:pt>
    <dgm:pt modelId="{1D8F1738-CCBF-475B-9195-73E119C636AE}" type="parTrans" cxnId="{7ABB2139-E55F-4DD7-84BB-F309E0DD5785}">
      <dgm:prSet/>
      <dgm:spPr/>
      <dgm:t>
        <a:bodyPr/>
        <a:lstStyle/>
        <a:p>
          <a:endParaRPr lang="en-US"/>
        </a:p>
      </dgm:t>
    </dgm:pt>
    <dgm:pt modelId="{18A92838-2569-4861-8923-10FA5318626C}" type="sibTrans" cxnId="{7ABB2139-E55F-4DD7-84BB-F309E0DD5785}">
      <dgm:prSet/>
      <dgm:spPr/>
      <dgm:t>
        <a:bodyPr/>
        <a:lstStyle/>
        <a:p>
          <a:endParaRPr lang="en-US"/>
        </a:p>
      </dgm:t>
    </dgm:pt>
    <dgm:pt modelId="{E97C4698-4822-4392-AD33-3667499F6428}">
      <dgm:prSet/>
      <dgm:spPr/>
      <dgm:t>
        <a:bodyPr/>
        <a:lstStyle/>
        <a:p>
          <a:r>
            <a:rPr lang="en-US" b="1"/>
            <a:t>MTTD was reduced to 6.5 seconds on average</a:t>
          </a:r>
          <a:r>
            <a:rPr lang="en-US"/>
            <a:t> — far below the 207-day industry average for unmonitored environments</a:t>
          </a:r>
        </a:p>
      </dgm:t>
    </dgm:pt>
    <dgm:pt modelId="{F9FC5A6B-B92D-49FF-AE7A-596AF36B23A3}" type="parTrans" cxnId="{4F38753A-1D9C-4E5B-86EB-D15F07C3B45C}">
      <dgm:prSet/>
      <dgm:spPr/>
      <dgm:t>
        <a:bodyPr/>
        <a:lstStyle/>
        <a:p>
          <a:endParaRPr lang="en-US"/>
        </a:p>
      </dgm:t>
    </dgm:pt>
    <dgm:pt modelId="{BA9B9956-80EB-4803-8474-EB5A5A6B2D75}" type="sibTrans" cxnId="{4F38753A-1D9C-4E5B-86EB-D15F07C3B45C}">
      <dgm:prSet/>
      <dgm:spPr/>
      <dgm:t>
        <a:bodyPr/>
        <a:lstStyle/>
        <a:p>
          <a:endParaRPr lang="en-US"/>
        </a:p>
      </dgm:t>
    </dgm:pt>
    <dgm:pt modelId="{10914450-FD5C-488A-8F37-F3F6D55BD9B7}">
      <dgm:prSet/>
      <dgm:spPr/>
      <dgm:t>
        <a:bodyPr/>
        <a:lstStyle/>
        <a:p>
          <a:r>
            <a:rPr lang="en-US" b="1"/>
            <a:t>SOAR automation cut MTTR by over 90%</a:t>
          </a:r>
          <a:r>
            <a:rPr lang="en-US"/>
            <a:t> compared to baseline manual investigation workflows</a:t>
          </a:r>
        </a:p>
      </dgm:t>
    </dgm:pt>
    <dgm:pt modelId="{2D22B07B-B43C-40A4-841A-408FE2CCFC7A}" type="parTrans" cxnId="{D0358BFC-EFA5-4061-8882-E3D4E0D0B6E4}">
      <dgm:prSet/>
      <dgm:spPr/>
      <dgm:t>
        <a:bodyPr/>
        <a:lstStyle/>
        <a:p>
          <a:endParaRPr lang="en-US"/>
        </a:p>
      </dgm:t>
    </dgm:pt>
    <dgm:pt modelId="{F3D023E4-8A68-422E-AE3C-614166C2D6FA}" type="sibTrans" cxnId="{D0358BFC-EFA5-4061-8882-E3D4E0D0B6E4}">
      <dgm:prSet/>
      <dgm:spPr/>
      <dgm:t>
        <a:bodyPr/>
        <a:lstStyle/>
        <a:p>
          <a:endParaRPr lang="en-US"/>
        </a:p>
      </dgm:t>
    </dgm:pt>
    <dgm:pt modelId="{03EDF504-D615-494C-A2D3-5C5EA33D7885}">
      <dgm:prSet/>
      <dgm:spPr/>
      <dgm:t>
        <a:bodyPr/>
        <a:lstStyle/>
        <a:p>
          <a:r>
            <a:rPr lang="en-US" b="1"/>
            <a:t>The entire stack was deployed for $3,200</a:t>
          </a:r>
          <a:r>
            <a:rPr lang="en-US"/>
            <a:t> — less than 2% of the cost of comparable commercial platforms</a:t>
          </a:r>
        </a:p>
      </dgm:t>
    </dgm:pt>
    <dgm:pt modelId="{64176BB8-7118-448C-9ADB-4809BDE3E30A}" type="parTrans" cxnId="{765082F5-4F7E-4225-B017-EC144826D9E5}">
      <dgm:prSet/>
      <dgm:spPr/>
      <dgm:t>
        <a:bodyPr/>
        <a:lstStyle/>
        <a:p>
          <a:endParaRPr lang="en-US"/>
        </a:p>
      </dgm:t>
    </dgm:pt>
    <dgm:pt modelId="{92C2C4A4-EFF2-4931-A723-279D0547A408}" type="sibTrans" cxnId="{765082F5-4F7E-4225-B017-EC144826D9E5}">
      <dgm:prSet/>
      <dgm:spPr/>
      <dgm:t>
        <a:bodyPr/>
        <a:lstStyle/>
        <a:p>
          <a:endParaRPr lang="en-US"/>
        </a:p>
      </dgm:t>
    </dgm:pt>
    <dgm:pt modelId="{4F10E105-917A-4AA2-89DD-70797F6BD608}">
      <dgm:prSet/>
      <dgm:spPr/>
      <dgm:t>
        <a:bodyPr/>
        <a:lstStyle/>
        <a:p>
          <a:r>
            <a:rPr lang="en-US" b="1"/>
            <a:t>The framework is replicable and scalable</a:t>
          </a:r>
          <a:r>
            <a:rPr lang="en-US"/>
            <a:t> — suitable for SMEs, research labs, academic institutions, and SOC training environments</a:t>
          </a:r>
        </a:p>
      </dgm:t>
    </dgm:pt>
    <dgm:pt modelId="{E67421B8-7133-46B4-B335-F71ADB12B4CA}" type="parTrans" cxnId="{C9C82876-65F4-4E5F-A2A8-80F5B20FA739}">
      <dgm:prSet/>
      <dgm:spPr/>
      <dgm:t>
        <a:bodyPr/>
        <a:lstStyle/>
        <a:p>
          <a:endParaRPr lang="en-US"/>
        </a:p>
      </dgm:t>
    </dgm:pt>
    <dgm:pt modelId="{9F8A5ECD-C325-496A-B52D-65AB2983F00D}" type="sibTrans" cxnId="{C9C82876-65F4-4E5F-A2A8-80F5B20FA739}">
      <dgm:prSet/>
      <dgm:spPr/>
      <dgm:t>
        <a:bodyPr/>
        <a:lstStyle/>
        <a:p>
          <a:endParaRPr lang="en-US"/>
        </a:p>
      </dgm:t>
    </dgm:pt>
    <dgm:pt modelId="{77772442-B3DF-4507-9389-B5496349C923}" type="pres">
      <dgm:prSet presAssocID="{BB0D9AD3-0B4F-4BA3-B0F0-B2151C701BA8}" presName="root" presStyleCnt="0">
        <dgm:presLayoutVars>
          <dgm:dir/>
          <dgm:resizeHandles val="exact"/>
        </dgm:presLayoutVars>
      </dgm:prSet>
      <dgm:spPr/>
    </dgm:pt>
    <dgm:pt modelId="{2C26EAF2-9944-43D2-B0C8-BF675AAA96C4}" type="pres">
      <dgm:prSet presAssocID="{173FF3D6-9D43-4991-BBCF-55E31C5E4026}" presName="compNode" presStyleCnt="0"/>
      <dgm:spPr/>
    </dgm:pt>
    <dgm:pt modelId="{101AA6F7-D417-48E9-A05C-4EE3C80DC769}" type="pres">
      <dgm:prSet presAssocID="{173FF3D6-9D43-4991-BBCF-55E31C5E4026}" presName="bgRect" presStyleLbl="bgShp" presStyleIdx="0" presStyleCnt="5"/>
      <dgm:spPr/>
    </dgm:pt>
    <dgm:pt modelId="{CD0DA244-B110-4CD5-932A-CFC19CE4EE73}" type="pres">
      <dgm:prSet presAssocID="{173FF3D6-9D43-4991-BBCF-55E31C5E402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3D4F5C6-6037-4BA8-B1B7-E4892438B2F7}" type="pres">
      <dgm:prSet presAssocID="{173FF3D6-9D43-4991-BBCF-55E31C5E4026}" presName="spaceRect" presStyleCnt="0"/>
      <dgm:spPr/>
    </dgm:pt>
    <dgm:pt modelId="{986A98CC-A02A-44E1-B158-BA081C805D2D}" type="pres">
      <dgm:prSet presAssocID="{173FF3D6-9D43-4991-BBCF-55E31C5E4026}" presName="parTx" presStyleLbl="revTx" presStyleIdx="0" presStyleCnt="5">
        <dgm:presLayoutVars>
          <dgm:chMax val="0"/>
          <dgm:chPref val="0"/>
        </dgm:presLayoutVars>
      </dgm:prSet>
      <dgm:spPr/>
    </dgm:pt>
    <dgm:pt modelId="{73FDB068-713C-4D32-ACC2-CE36756FED8C}" type="pres">
      <dgm:prSet presAssocID="{18A92838-2569-4861-8923-10FA5318626C}" presName="sibTrans" presStyleCnt="0"/>
      <dgm:spPr/>
    </dgm:pt>
    <dgm:pt modelId="{06E9B711-0E4F-4D99-B9DE-F2E0DD8F32AF}" type="pres">
      <dgm:prSet presAssocID="{E97C4698-4822-4392-AD33-3667499F6428}" presName="compNode" presStyleCnt="0"/>
      <dgm:spPr/>
    </dgm:pt>
    <dgm:pt modelId="{902605FC-2559-4594-BA95-3EDAF12F262A}" type="pres">
      <dgm:prSet presAssocID="{E97C4698-4822-4392-AD33-3667499F6428}" presName="bgRect" presStyleLbl="bgShp" presStyleIdx="1" presStyleCnt="5"/>
      <dgm:spPr/>
    </dgm:pt>
    <dgm:pt modelId="{AC2BD6E6-C38F-44EF-8E99-52A40483C77F}" type="pres">
      <dgm:prSet presAssocID="{E97C4698-4822-4392-AD33-3667499F642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240CA50-400C-4B97-B4B8-256655CCC137}" type="pres">
      <dgm:prSet presAssocID="{E97C4698-4822-4392-AD33-3667499F6428}" presName="spaceRect" presStyleCnt="0"/>
      <dgm:spPr/>
    </dgm:pt>
    <dgm:pt modelId="{30C36E45-2D77-4C14-ABC9-A24E5BA5DEA7}" type="pres">
      <dgm:prSet presAssocID="{E97C4698-4822-4392-AD33-3667499F6428}" presName="parTx" presStyleLbl="revTx" presStyleIdx="1" presStyleCnt="5">
        <dgm:presLayoutVars>
          <dgm:chMax val="0"/>
          <dgm:chPref val="0"/>
        </dgm:presLayoutVars>
      </dgm:prSet>
      <dgm:spPr/>
    </dgm:pt>
    <dgm:pt modelId="{3D6CB875-5F5D-45BD-BC94-AEDB231DE5AF}" type="pres">
      <dgm:prSet presAssocID="{BA9B9956-80EB-4803-8474-EB5A5A6B2D75}" presName="sibTrans" presStyleCnt="0"/>
      <dgm:spPr/>
    </dgm:pt>
    <dgm:pt modelId="{F7F613D2-9073-4C4E-B5C4-9EA899A246A6}" type="pres">
      <dgm:prSet presAssocID="{10914450-FD5C-488A-8F37-F3F6D55BD9B7}" presName="compNode" presStyleCnt="0"/>
      <dgm:spPr/>
    </dgm:pt>
    <dgm:pt modelId="{DE90442D-4506-429D-9983-993B0D481F72}" type="pres">
      <dgm:prSet presAssocID="{10914450-FD5C-488A-8F37-F3F6D55BD9B7}" presName="bgRect" presStyleLbl="bgShp" presStyleIdx="2" presStyleCnt="5"/>
      <dgm:spPr/>
    </dgm:pt>
    <dgm:pt modelId="{1C28AE60-2115-4B3D-8DDB-5B0EB41AC2A1}" type="pres">
      <dgm:prSet presAssocID="{10914450-FD5C-488A-8F37-F3F6D55BD9B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E8931CA-125E-4060-8F8E-FDB66DBE2773}" type="pres">
      <dgm:prSet presAssocID="{10914450-FD5C-488A-8F37-F3F6D55BD9B7}" presName="spaceRect" presStyleCnt="0"/>
      <dgm:spPr/>
    </dgm:pt>
    <dgm:pt modelId="{3A99B817-CB92-4991-B15D-936ADFCDB5E6}" type="pres">
      <dgm:prSet presAssocID="{10914450-FD5C-488A-8F37-F3F6D55BD9B7}" presName="parTx" presStyleLbl="revTx" presStyleIdx="2" presStyleCnt="5">
        <dgm:presLayoutVars>
          <dgm:chMax val="0"/>
          <dgm:chPref val="0"/>
        </dgm:presLayoutVars>
      </dgm:prSet>
      <dgm:spPr/>
    </dgm:pt>
    <dgm:pt modelId="{3DDA477E-58C0-4E18-B00E-F685257E31E4}" type="pres">
      <dgm:prSet presAssocID="{F3D023E4-8A68-422E-AE3C-614166C2D6FA}" presName="sibTrans" presStyleCnt="0"/>
      <dgm:spPr/>
    </dgm:pt>
    <dgm:pt modelId="{3762AB71-9035-45DD-9CC2-012C8D55A0C0}" type="pres">
      <dgm:prSet presAssocID="{03EDF504-D615-494C-A2D3-5C5EA33D7885}" presName="compNode" presStyleCnt="0"/>
      <dgm:spPr/>
    </dgm:pt>
    <dgm:pt modelId="{F0BB4EC6-C14A-42F0-B0A7-A6FDB3B47AC4}" type="pres">
      <dgm:prSet presAssocID="{03EDF504-D615-494C-A2D3-5C5EA33D7885}" presName="bgRect" presStyleLbl="bgShp" presStyleIdx="3" presStyleCnt="5"/>
      <dgm:spPr/>
    </dgm:pt>
    <dgm:pt modelId="{B05D9432-8C5B-409B-9A5B-E6DC7B60E3D4}" type="pres">
      <dgm:prSet presAssocID="{03EDF504-D615-494C-A2D3-5C5EA33D788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8FC703D-64DF-4588-8577-82AD518EA74A}" type="pres">
      <dgm:prSet presAssocID="{03EDF504-D615-494C-A2D3-5C5EA33D7885}" presName="spaceRect" presStyleCnt="0"/>
      <dgm:spPr/>
    </dgm:pt>
    <dgm:pt modelId="{5DF49FCF-6011-4086-9285-23DA1283713B}" type="pres">
      <dgm:prSet presAssocID="{03EDF504-D615-494C-A2D3-5C5EA33D7885}" presName="parTx" presStyleLbl="revTx" presStyleIdx="3" presStyleCnt="5">
        <dgm:presLayoutVars>
          <dgm:chMax val="0"/>
          <dgm:chPref val="0"/>
        </dgm:presLayoutVars>
      </dgm:prSet>
      <dgm:spPr/>
    </dgm:pt>
    <dgm:pt modelId="{43F4F01D-6F38-4777-B04F-56C12C5803FE}" type="pres">
      <dgm:prSet presAssocID="{92C2C4A4-EFF2-4931-A723-279D0547A408}" presName="sibTrans" presStyleCnt="0"/>
      <dgm:spPr/>
    </dgm:pt>
    <dgm:pt modelId="{966A554C-AD1B-49F4-A32B-F1241A30D53C}" type="pres">
      <dgm:prSet presAssocID="{4F10E105-917A-4AA2-89DD-70797F6BD608}" presName="compNode" presStyleCnt="0"/>
      <dgm:spPr/>
    </dgm:pt>
    <dgm:pt modelId="{8315F469-1A7F-4C68-9A0A-8331097DE2F3}" type="pres">
      <dgm:prSet presAssocID="{4F10E105-917A-4AA2-89DD-70797F6BD608}" presName="bgRect" presStyleLbl="bgShp" presStyleIdx="4" presStyleCnt="5"/>
      <dgm:spPr/>
    </dgm:pt>
    <dgm:pt modelId="{2363C8DA-E580-4088-97D7-0B0E973D2D9D}" type="pres">
      <dgm:prSet presAssocID="{4F10E105-917A-4AA2-89DD-70797F6BD60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276B4FF-3E89-481C-BB71-0ADE1D23AA77}" type="pres">
      <dgm:prSet presAssocID="{4F10E105-917A-4AA2-89DD-70797F6BD608}" presName="spaceRect" presStyleCnt="0"/>
      <dgm:spPr/>
    </dgm:pt>
    <dgm:pt modelId="{C319DB28-49B7-44EF-8099-38F4209CDD50}" type="pres">
      <dgm:prSet presAssocID="{4F10E105-917A-4AA2-89DD-70797F6BD60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32B4018-BEAD-4EEF-8474-084919657E5B}" type="presOf" srcId="{10914450-FD5C-488A-8F37-F3F6D55BD9B7}" destId="{3A99B817-CB92-4991-B15D-936ADFCDB5E6}" srcOrd="0" destOrd="0" presId="urn:microsoft.com/office/officeart/2018/2/layout/IconVerticalSolidList"/>
    <dgm:cxn modelId="{7ABB2139-E55F-4DD7-84BB-F309E0DD5785}" srcId="{BB0D9AD3-0B4F-4BA3-B0F0-B2151C701BA8}" destId="{173FF3D6-9D43-4991-BBCF-55E31C5E4026}" srcOrd="0" destOrd="0" parTransId="{1D8F1738-CCBF-475B-9195-73E119C636AE}" sibTransId="{18A92838-2569-4861-8923-10FA5318626C}"/>
    <dgm:cxn modelId="{4F38753A-1D9C-4E5B-86EB-D15F07C3B45C}" srcId="{BB0D9AD3-0B4F-4BA3-B0F0-B2151C701BA8}" destId="{E97C4698-4822-4392-AD33-3667499F6428}" srcOrd="1" destOrd="0" parTransId="{F9FC5A6B-B92D-49FF-AE7A-596AF36B23A3}" sibTransId="{BA9B9956-80EB-4803-8474-EB5A5A6B2D75}"/>
    <dgm:cxn modelId="{0A495445-9FFC-41C8-A62D-3AAD703BF8B0}" type="presOf" srcId="{4F10E105-917A-4AA2-89DD-70797F6BD608}" destId="{C319DB28-49B7-44EF-8099-38F4209CDD50}" srcOrd="0" destOrd="0" presId="urn:microsoft.com/office/officeart/2018/2/layout/IconVerticalSolidList"/>
    <dgm:cxn modelId="{F7CE3B70-B840-497B-8725-7BFDE3B209A7}" type="presOf" srcId="{03EDF504-D615-494C-A2D3-5C5EA33D7885}" destId="{5DF49FCF-6011-4086-9285-23DA1283713B}" srcOrd="0" destOrd="0" presId="urn:microsoft.com/office/officeart/2018/2/layout/IconVerticalSolidList"/>
    <dgm:cxn modelId="{C9C82876-65F4-4E5F-A2A8-80F5B20FA739}" srcId="{BB0D9AD3-0B4F-4BA3-B0F0-B2151C701BA8}" destId="{4F10E105-917A-4AA2-89DD-70797F6BD608}" srcOrd="4" destOrd="0" parTransId="{E67421B8-7133-46B4-B335-F71ADB12B4CA}" sibTransId="{9F8A5ECD-C325-496A-B52D-65AB2983F00D}"/>
    <dgm:cxn modelId="{7B7F8FCA-A5D1-4776-A049-59A9B8C52ABD}" type="presOf" srcId="{E97C4698-4822-4392-AD33-3667499F6428}" destId="{30C36E45-2D77-4C14-ABC9-A24E5BA5DEA7}" srcOrd="0" destOrd="0" presId="urn:microsoft.com/office/officeart/2018/2/layout/IconVerticalSolidList"/>
    <dgm:cxn modelId="{D8DA06CD-3078-4EB5-8544-E33AD9027413}" type="presOf" srcId="{BB0D9AD3-0B4F-4BA3-B0F0-B2151C701BA8}" destId="{77772442-B3DF-4507-9389-B5496349C923}" srcOrd="0" destOrd="0" presId="urn:microsoft.com/office/officeart/2018/2/layout/IconVerticalSolidList"/>
    <dgm:cxn modelId="{B496EAD2-EA26-4334-9027-47ADFA6E592D}" type="presOf" srcId="{173FF3D6-9D43-4991-BBCF-55E31C5E4026}" destId="{986A98CC-A02A-44E1-B158-BA081C805D2D}" srcOrd="0" destOrd="0" presId="urn:microsoft.com/office/officeart/2018/2/layout/IconVerticalSolidList"/>
    <dgm:cxn modelId="{765082F5-4F7E-4225-B017-EC144826D9E5}" srcId="{BB0D9AD3-0B4F-4BA3-B0F0-B2151C701BA8}" destId="{03EDF504-D615-494C-A2D3-5C5EA33D7885}" srcOrd="3" destOrd="0" parTransId="{64176BB8-7118-448C-9ADB-4809BDE3E30A}" sibTransId="{92C2C4A4-EFF2-4931-A723-279D0547A408}"/>
    <dgm:cxn modelId="{D0358BFC-EFA5-4061-8882-E3D4E0D0B6E4}" srcId="{BB0D9AD3-0B4F-4BA3-B0F0-B2151C701BA8}" destId="{10914450-FD5C-488A-8F37-F3F6D55BD9B7}" srcOrd="2" destOrd="0" parTransId="{2D22B07B-B43C-40A4-841A-408FE2CCFC7A}" sibTransId="{F3D023E4-8A68-422E-AE3C-614166C2D6FA}"/>
    <dgm:cxn modelId="{BBD53F59-1299-42EE-8FFB-23F9B67AA141}" type="presParOf" srcId="{77772442-B3DF-4507-9389-B5496349C923}" destId="{2C26EAF2-9944-43D2-B0C8-BF675AAA96C4}" srcOrd="0" destOrd="0" presId="urn:microsoft.com/office/officeart/2018/2/layout/IconVerticalSolidList"/>
    <dgm:cxn modelId="{E54DA73F-516B-4B74-85D9-3A21F574D567}" type="presParOf" srcId="{2C26EAF2-9944-43D2-B0C8-BF675AAA96C4}" destId="{101AA6F7-D417-48E9-A05C-4EE3C80DC769}" srcOrd="0" destOrd="0" presId="urn:microsoft.com/office/officeart/2018/2/layout/IconVerticalSolidList"/>
    <dgm:cxn modelId="{72D371CE-582C-45CB-898C-1B0F8BA54EBF}" type="presParOf" srcId="{2C26EAF2-9944-43D2-B0C8-BF675AAA96C4}" destId="{CD0DA244-B110-4CD5-932A-CFC19CE4EE73}" srcOrd="1" destOrd="0" presId="urn:microsoft.com/office/officeart/2018/2/layout/IconVerticalSolidList"/>
    <dgm:cxn modelId="{9FBD2DA9-B5EF-46CF-9E42-6F06E6CF9EC7}" type="presParOf" srcId="{2C26EAF2-9944-43D2-B0C8-BF675AAA96C4}" destId="{03D4F5C6-6037-4BA8-B1B7-E4892438B2F7}" srcOrd="2" destOrd="0" presId="urn:microsoft.com/office/officeart/2018/2/layout/IconVerticalSolidList"/>
    <dgm:cxn modelId="{EDA4898C-BA4F-4C99-A309-9DBB888A3D37}" type="presParOf" srcId="{2C26EAF2-9944-43D2-B0C8-BF675AAA96C4}" destId="{986A98CC-A02A-44E1-B158-BA081C805D2D}" srcOrd="3" destOrd="0" presId="urn:microsoft.com/office/officeart/2018/2/layout/IconVerticalSolidList"/>
    <dgm:cxn modelId="{A03E95E0-8E1D-40C8-9CD1-D9AFB7159EE4}" type="presParOf" srcId="{77772442-B3DF-4507-9389-B5496349C923}" destId="{73FDB068-713C-4D32-ACC2-CE36756FED8C}" srcOrd="1" destOrd="0" presId="urn:microsoft.com/office/officeart/2018/2/layout/IconVerticalSolidList"/>
    <dgm:cxn modelId="{C408ECCC-6D43-4C54-BA2E-83FE30B297DF}" type="presParOf" srcId="{77772442-B3DF-4507-9389-B5496349C923}" destId="{06E9B711-0E4F-4D99-B9DE-F2E0DD8F32AF}" srcOrd="2" destOrd="0" presId="urn:microsoft.com/office/officeart/2018/2/layout/IconVerticalSolidList"/>
    <dgm:cxn modelId="{219EE9F7-341C-49DD-8426-2DD6C960F868}" type="presParOf" srcId="{06E9B711-0E4F-4D99-B9DE-F2E0DD8F32AF}" destId="{902605FC-2559-4594-BA95-3EDAF12F262A}" srcOrd="0" destOrd="0" presId="urn:microsoft.com/office/officeart/2018/2/layout/IconVerticalSolidList"/>
    <dgm:cxn modelId="{DB42176E-D507-494F-8EEB-3FCC20AFCF1B}" type="presParOf" srcId="{06E9B711-0E4F-4D99-B9DE-F2E0DD8F32AF}" destId="{AC2BD6E6-C38F-44EF-8E99-52A40483C77F}" srcOrd="1" destOrd="0" presId="urn:microsoft.com/office/officeart/2018/2/layout/IconVerticalSolidList"/>
    <dgm:cxn modelId="{2E2E9D0B-42E8-413C-BAA2-F37202BBC6EE}" type="presParOf" srcId="{06E9B711-0E4F-4D99-B9DE-F2E0DD8F32AF}" destId="{0240CA50-400C-4B97-B4B8-256655CCC137}" srcOrd="2" destOrd="0" presId="urn:microsoft.com/office/officeart/2018/2/layout/IconVerticalSolidList"/>
    <dgm:cxn modelId="{12F82DDC-4A79-4E88-AD9E-0C754A2BB77F}" type="presParOf" srcId="{06E9B711-0E4F-4D99-B9DE-F2E0DD8F32AF}" destId="{30C36E45-2D77-4C14-ABC9-A24E5BA5DEA7}" srcOrd="3" destOrd="0" presId="urn:microsoft.com/office/officeart/2018/2/layout/IconVerticalSolidList"/>
    <dgm:cxn modelId="{E948CBCE-C16C-402E-9E78-235B6EE86208}" type="presParOf" srcId="{77772442-B3DF-4507-9389-B5496349C923}" destId="{3D6CB875-5F5D-45BD-BC94-AEDB231DE5AF}" srcOrd="3" destOrd="0" presId="urn:microsoft.com/office/officeart/2018/2/layout/IconVerticalSolidList"/>
    <dgm:cxn modelId="{81C5AADE-3DAD-40AF-9447-0DDBA0D99F64}" type="presParOf" srcId="{77772442-B3DF-4507-9389-B5496349C923}" destId="{F7F613D2-9073-4C4E-B5C4-9EA899A246A6}" srcOrd="4" destOrd="0" presId="urn:microsoft.com/office/officeart/2018/2/layout/IconVerticalSolidList"/>
    <dgm:cxn modelId="{681BED37-9FCE-48FB-A2C3-924954952B7F}" type="presParOf" srcId="{F7F613D2-9073-4C4E-B5C4-9EA899A246A6}" destId="{DE90442D-4506-429D-9983-993B0D481F72}" srcOrd="0" destOrd="0" presId="urn:microsoft.com/office/officeart/2018/2/layout/IconVerticalSolidList"/>
    <dgm:cxn modelId="{BAFD20A7-E6FF-41F1-A1B1-8DBEB886EEDF}" type="presParOf" srcId="{F7F613D2-9073-4C4E-B5C4-9EA899A246A6}" destId="{1C28AE60-2115-4B3D-8DDB-5B0EB41AC2A1}" srcOrd="1" destOrd="0" presId="urn:microsoft.com/office/officeart/2018/2/layout/IconVerticalSolidList"/>
    <dgm:cxn modelId="{BB36A44F-57D3-4BD0-B804-271EDCF6A9CB}" type="presParOf" srcId="{F7F613D2-9073-4C4E-B5C4-9EA899A246A6}" destId="{DE8931CA-125E-4060-8F8E-FDB66DBE2773}" srcOrd="2" destOrd="0" presId="urn:microsoft.com/office/officeart/2018/2/layout/IconVerticalSolidList"/>
    <dgm:cxn modelId="{9B74B861-8A49-419E-9308-5510502C2B30}" type="presParOf" srcId="{F7F613D2-9073-4C4E-B5C4-9EA899A246A6}" destId="{3A99B817-CB92-4991-B15D-936ADFCDB5E6}" srcOrd="3" destOrd="0" presId="urn:microsoft.com/office/officeart/2018/2/layout/IconVerticalSolidList"/>
    <dgm:cxn modelId="{A6AE9754-328F-4394-B7FE-2049B18CA5E6}" type="presParOf" srcId="{77772442-B3DF-4507-9389-B5496349C923}" destId="{3DDA477E-58C0-4E18-B00E-F685257E31E4}" srcOrd="5" destOrd="0" presId="urn:microsoft.com/office/officeart/2018/2/layout/IconVerticalSolidList"/>
    <dgm:cxn modelId="{091913BD-BEA7-4E91-8D1A-3CD4191279D6}" type="presParOf" srcId="{77772442-B3DF-4507-9389-B5496349C923}" destId="{3762AB71-9035-45DD-9CC2-012C8D55A0C0}" srcOrd="6" destOrd="0" presId="urn:microsoft.com/office/officeart/2018/2/layout/IconVerticalSolidList"/>
    <dgm:cxn modelId="{48E2392E-9ECE-4081-9DB0-46F674421761}" type="presParOf" srcId="{3762AB71-9035-45DD-9CC2-012C8D55A0C0}" destId="{F0BB4EC6-C14A-42F0-B0A7-A6FDB3B47AC4}" srcOrd="0" destOrd="0" presId="urn:microsoft.com/office/officeart/2018/2/layout/IconVerticalSolidList"/>
    <dgm:cxn modelId="{303FA2D0-87C2-4D51-9588-02F453D727BD}" type="presParOf" srcId="{3762AB71-9035-45DD-9CC2-012C8D55A0C0}" destId="{B05D9432-8C5B-409B-9A5B-E6DC7B60E3D4}" srcOrd="1" destOrd="0" presId="urn:microsoft.com/office/officeart/2018/2/layout/IconVerticalSolidList"/>
    <dgm:cxn modelId="{B5992207-8743-4B91-B8A7-67B7163AE522}" type="presParOf" srcId="{3762AB71-9035-45DD-9CC2-012C8D55A0C0}" destId="{C8FC703D-64DF-4588-8577-82AD518EA74A}" srcOrd="2" destOrd="0" presId="urn:microsoft.com/office/officeart/2018/2/layout/IconVerticalSolidList"/>
    <dgm:cxn modelId="{ED1CE170-70C4-4D94-95A1-8C623CDBA456}" type="presParOf" srcId="{3762AB71-9035-45DD-9CC2-012C8D55A0C0}" destId="{5DF49FCF-6011-4086-9285-23DA1283713B}" srcOrd="3" destOrd="0" presId="urn:microsoft.com/office/officeart/2018/2/layout/IconVerticalSolidList"/>
    <dgm:cxn modelId="{07DE5FAB-9463-4225-B831-BA5D6DF351C9}" type="presParOf" srcId="{77772442-B3DF-4507-9389-B5496349C923}" destId="{43F4F01D-6F38-4777-B04F-56C12C5803FE}" srcOrd="7" destOrd="0" presId="urn:microsoft.com/office/officeart/2018/2/layout/IconVerticalSolidList"/>
    <dgm:cxn modelId="{BFD5AD53-2497-4189-9C7F-3D8974D59AE5}" type="presParOf" srcId="{77772442-B3DF-4507-9389-B5496349C923}" destId="{966A554C-AD1B-49F4-A32B-F1241A30D53C}" srcOrd="8" destOrd="0" presId="urn:microsoft.com/office/officeart/2018/2/layout/IconVerticalSolidList"/>
    <dgm:cxn modelId="{B7666B4F-6048-4B35-9B98-B6C8C02B1478}" type="presParOf" srcId="{966A554C-AD1B-49F4-A32B-F1241A30D53C}" destId="{8315F469-1A7F-4C68-9A0A-8331097DE2F3}" srcOrd="0" destOrd="0" presId="urn:microsoft.com/office/officeart/2018/2/layout/IconVerticalSolidList"/>
    <dgm:cxn modelId="{B22510FD-1381-446F-9F7E-A24C9F28A55E}" type="presParOf" srcId="{966A554C-AD1B-49F4-A32B-F1241A30D53C}" destId="{2363C8DA-E580-4088-97D7-0B0E973D2D9D}" srcOrd="1" destOrd="0" presId="urn:microsoft.com/office/officeart/2018/2/layout/IconVerticalSolidList"/>
    <dgm:cxn modelId="{00E8638E-FA14-4E46-AE16-013645885732}" type="presParOf" srcId="{966A554C-AD1B-49F4-A32B-F1241A30D53C}" destId="{8276B4FF-3E89-481C-BB71-0ADE1D23AA77}" srcOrd="2" destOrd="0" presId="urn:microsoft.com/office/officeart/2018/2/layout/IconVerticalSolidList"/>
    <dgm:cxn modelId="{D2C03F2C-7EBA-4999-BF4C-4C7B3FBE2E53}" type="presParOf" srcId="{966A554C-AD1B-49F4-A32B-F1241A30D53C}" destId="{C319DB28-49B7-44EF-8099-38F4209CDD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22BC8B-5651-4AB1-BA2B-873D19044EE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CC03B91-018C-4246-A3D5-7115E81C73A8}">
      <dgm:prSet/>
      <dgm:spPr/>
      <dgm:t>
        <a:bodyPr/>
        <a:lstStyle/>
        <a:p>
          <a:r>
            <a:rPr lang="en-US"/>
            <a:t>IBM Security. (2023). </a:t>
          </a:r>
          <a:r>
            <a:rPr lang="en-US" i="1"/>
            <a:t>Cost of a Data Breach Report 2023.</a:t>
          </a:r>
          <a:r>
            <a:rPr lang="en-US"/>
            <a:t> IBM Corporation.</a:t>
          </a:r>
        </a:p>
      </dgm:t>
    </dgm:pt>
    <dgm:pt modelId="{C3F3F612-1361-46CD-BDC2-6D546D20B8D5}" type="parTrans" cxnId="{6A0E6D4A-FB11-4DBA-ABC6-655EA3B0C886}">
      <dgm:prSet/>
      <dgm:spPr/>
      <dgm:t>
        <a:bodyPr/>
        <a:lstStyle/>
        <a:p>
          <a:endParaRPr lang="en-US"/>
        </a:p>
      </dgm:t>
    </dgm:pt>
    <dgm:pt modelId="{1A9842BE-AEB8-4C63-831C-01C5A7C81D40}" type="sibTrans" cxnId="{6A0E6D4A-FB11-4DBA-ABC6-655EA3B0C886}">
      <dgm:prSet/>
      <dgm:spPr/>
      <dgm:t>
        <a:bodyPr/>
        <a:lstStyle/>
        <a:p>
          <a:endParaRPr lang="en-US"/>
        </a:p>
      </dgm:t>
    </dgm:pt>
    <dgm:pt modelId="{06BE6987-4EAD-4C4E-9C41-D52A97D0E836}">
      <dgm:prSet/>
      <dgm:spPr/>
      <dgm:t>
        <a:bodyPr/>
        <a:lstStyle/>
        <a:p>
          <a:r>
            <a:rPr lang="en-US"/>
            <a:t>Ponemon Institute. (2022). </a:t>
          </a:r>
          <a:r>
            <a:rPr lang="en-US" i="1"/>
            <a:t>The State of SOC Performance.</a:t>
          </a:r>
          <a:r>
            <a:rPr lang="en-US"/>
            <a:t> Ponemon Institute LLC.</a:t>
          </a:r>
        </a:p>
      </dgm:t>
    </dgm:pt>
    <dgm:pt modelId="{C471F00D-6664-42EF-A735-B39E22E0C2F8}" type="parTrans" cxnId="{32B4457D-646F-4A02-A00E-8449AF123845}">
      <dgm:prSet/>
      <dgm:spPr/>
      <dgm:t>
        <a:bodyPr/>
        <a:lstStyle/>
        <a:p>
          <a:endParaRPr lang="en-US"/>
        </a:p>
      </dgm:t>
    </dgm:pt>
    <dgm:pt modelId="{B3AAD8C2-0713-44C9-9A1E-3CEF22D0735E}" type="sibTrans" cxnId="{32B4457D-646F-4A02-A00E-8449AF123845}">
      <dgm:prSet/>
      <dgm:spPr/>
      <dgm:t>
        <a:bodyPr/>
        <a:lstStyle/>
        <a:p>
          <a:endParaRPr lang="en-US"/>
        </a:p>
      </dgm:t>
    </dgm:pt>
    <dgm:pt modelId="{2F726A62-6866-48BC-AA7E-A762FB92C306}">
      <dgm:prSet/>
      <dgm:spPr/>
      <dgm:t>
        <a:bodyPr/>
        <a:lstStyle/>
        <a:p>
          <a:r>
            <a:rPr lang="en-US"/>
            <a:t>Cybersecurity Ventures. (2023). </a:t>
          </a:r>
          <a:r>
            <a:rPr lang="en-US" i="1"/>
            <a:t>Cybercrime Report 2023.</a:t>
          </a:r>
          <a:r>
            <a:rPr lang="en-US"/>
            <a:t> Cybersecurity Ventures.</a:t>
          </a:r>
        </a:p>
      </dgm:t>
    </dgm:pt>
    <dgm:pt modelId="{51E9EE5B-E7E5-43D3-A75D-D3497B1F3949}" type="parTrans" cxnId="{BFF5ED55-F6B6-46D0-82F4-B10CFB51ED3C}">
      <dgm:prSet/>
      <dgm:spPr/>
      <dgm:t>
        <a:bodyPr/>
        <a:lstStyle/>
        <a:p>
          <a:endParaRPr lang="en-US"/>
        </a:p>
      </dgm:t>
    </dgm:pt>
    <dgm:pt modelId="{A7F4DB48-94F3-430E-9737-56E350102A8C}" type="sibTrans" cxnId="{BFF5ED55-F6B6-46D0-82F4-B10CFB51ED3C}">
      <dgm:prSet/>
      <dgm:spPr/>
      <dgm:t>
        <a:bodyPr/>
        <a:lstStyle/>
        <a:p>
          <a:endParaRPr lang="en-US"/>
        </a:p>
      </dgm:t>
    </dgm:pt>
    <dgm:pt modelId="{2EDC2668-CA54-4A05-AC1C-89BF21B32A0A}">
      <dgm:prSet/>
      <dgm:spPr/>
      <dgm:t>
        <a:bodyPr/>
        <a:lstStyle/>
        <a:p>
          <a:r>
            <a:rPr lang="en-US"/>
            <a:t>Wazuh Inc. (2024). </a:t>
          </a:r>
          <a:r>
            <a:rPr lang="en-US" i="1"/>
            <a:t>Wazuh Open Source Security Platform Documentation.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1"/>
            </a:rPr>
            <a:t>https://documentation.wazuh.com</a:t>
          </a:r>
          <a:endParaRPr lang="en-US"/>
        </a:p>
      </dgm:t>
    </dgm:pt>
    <dgm:pt modelId="{FEE3F5A4-CC12-4EF0-85D1-4C36581EEDCA}" type="parTrans" cxnId="{36C1EE0B-5967-433C-82B5-3ECB360F0A4D}">
      <dgm:prSet/>
      <dgm:spPr/>
      <dgm:t>
        <a:bodyPr/>
        <a:lstStyle/>
        <a:p>
          <a:endParaRPr lang="en-US"/>
        </a:p>
      </dgm:t>
    </dgm:pt>
    <dgm:pt modelId="{645043FE-D87D-4371-8706-92D2046BF6CF}" type="sibTrans" cxnId="{36C1EE0B-5967-433C-82B5-3ECB360F0A4D}">
      <dgm:prSet/>
      <dgm:spPr/>
      <dgm:t>
        <a:bodyPr/>
        <a:lstStyle/>
        <a:p>
          <a:endParaRPr lang="en-US"/>
        </a:p>
      </dgm:t>
    </dgm:pt>
    <dgm:pt modelId="{17111D24-C3A4-462C-BFA4-FBF9EAB86C59}">
      <dgm:prSet/>
      <dgm:spPr/>
      <dgm:t>
        <a:bodyPr/>
        <a:lstStyle/>
        <a:p>
          <a:r>
            <a:rPr lang="en-US"/>
            <a:t>Shuffle Automation. (2024). </a:t>
          </a:r>
          <a:r>
            <a:rPr lang="en-US" i="1"/>
            <a:t>Shuffle SOAR Documentation.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2"/>
            </a:rPr>
            <a:t>https://shuffler.io/docs</a:t>
          </a:r>
          <a:endParaRPr lang="en-US"/>
        </a:p>
      </dgm:t>
    </dgm:pt>
    <dgm:pt modelId="{6661A1F6-E6C1-490D-AC3B-BB136B6EBC9F}" type="parTrans" cxnId="{97F03097-6743-4982-B4DD-AB8A43294A57}">
      <dgm:prSet/>
      <dgm:spPr/>
      <dgm:t>
        <a:bodyPr/>
        <a:lstStyle/>
        <a:p>
          <a:endParaRPr lang="en-US"/>
        </a:p>
      </dgm:t>
    </dgm:pt>
    <dgm:pt modelId="{2DBC58E0-E1BE-477B-A5F1-BC68A8F4F1D1}" type="sibTrans" cxnId="{97F03097-6743-4982-B4DD-AB8A43294A57}">
      <dgm:prSet/>
      <dgm:spPr/>
      <dgm:t>
        <a:bodyPr/>
        <a:lstStyle/>
        <a:p>
          <a:endParaRPr lang="en-US"/>
        </a:p>
      </dgm:t>
    </dgm:pt>
    <dgm:pt modelId="{3DE758DF-207F-49C5-A799-5F408FE97192}">
      <dgm:prSet/>
      <dgm:spPr/>
      <dgm:t>
        <a:bodyPr/>
        <a:lstStyle/>
        <a:p>
          <a:r>
            <a:rPr lang="en-US"/>
            <a:t>TheHive Project. (2024). </a:t>
          </a:r>
          <a:r>
            <a:rPr lang="en-US" i="1"/>
            <a:t>TheHive Documentation.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3"/>
            </a:rPr>
            <a:t>https://docs.strangebee.com/thehive</a:t>
          </a:r>
          <a:endParaRPr lang="en-US"/>
        </a:p>
      </dgm:t>
    </dgm:pt>
    <dgm:pt modelId="{BFA01493-29AC-4416-92D2-2C2753C26CF0}" type="parTrans" cxnId="{A536625D-F71E-448B-BBC3-518BDF3DF5D8}">
      <dgm:prSet/>
      <dgm:spPr/>
      <dgm:t>
        <a:bodyPr/>
        <a:lstStyle/>
        <a:p>
          <a:endParaRPr lang="en-US"/>
        </a:p>
      </dgm:t>
    </dgm:pt>
    <dgm:pt modelId="{12B84AD2-F696-4AE2-848B-5423BE2AA2AF}" type="sibTrans" cxnId="{A536625D-F71E-448B-BBC3-518BDF3DF5D8}">
      <dgm:prSet/>
      <dgm:spPr/>
      <dgm:t>
        <a:bodyPr/>
        <a:lstStyle/>
        <a:p>
          <a:endParaRPr lang="en-US"/>
        </a:p>
      </dgm:t>
    </dgm:pt>
    <dgm:pt modelId="{C2F49BBF-67BD-4762-A3FE-A7CD1DCE663B}">
      <dgm:prSet/>
      <dgm:spPr/>
      <dgm:t>
        <a:bodyPr/>
        <a:lstStyle/>
        <a:p>
          <a:r>
            <a:rPr lang="en-US"/>
            <a:t>MISP Project. (2024). </a:t>
          </a:r>
          <a:r>
            <a:rPr lang="en-US" i="1"/>
            <a:t>MISP Threat Sharing Platform Documentation.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4"/>
            </a:rPr>
            <a:t>https://www.misp-project.org</a:t>
          </a:r>
          <a:endParaRPr lang="en-US"/>
        </a:p>
      </dgm:t>
    </dgm:pt>
    <dgm:pt modelId="{66050084-1A85-47B7-8F2E-870CBC7C1462}" type="parTrans" cxnId="{FFBC1811-CA4F-4AA5-A3A0-016062211EFE}">
      <dgm:prSet/>
      <dgm:spPr/>
      <dgm:t>
        <a:bodyPr/>
        <a:lstStyle/>
        <a:p>
          <a:endParaRPr lang="en-US"/>
        </a:p>
      </dgm:t>
    </dgm:pt>
    <dgm:pt modelId="{C3E369BD-F2BA-4F3C-AAA0-11214E73443F}" type="sibTrans" cxnId="{FFBC1811-CA4F-4AA5-A3A0-016062211EFE}">
      <dgm:prSet/>
      <dgm:spPr/>
      <dgm:t>
        <a:bodyPr/>
        <a:lstStyle/>
        <a:p>
          <a:endParaRPr lang="en-US"/>
        </a:p>
      </dgm:t>
    </dgm:pt>
    <dgm:pt modelId="{E4BB61BF-A309-4F9A-96FA-E0415E27A0EB}">
      <dgm:prSet/>
      <dgm:spPr/>
      <dgm:t>
        <a:bodyPr/>
        <a:lstStyle/>
        <a:p>
          <a:r>
            <a:rPr lang="en-US"/>
            <a:t>Suricata. (2024). </a:t>
          </a:r>
          <a:r>
            <a:rPr lang="en-US" i="1"/>
            <a:t>Suricata IDS/IPS Documentation.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5"/>
            </a:rPr>
            <a:t>https://suricata.io/documentation</a:t>
          </a:r>
          <a:endParaRPr lang="en-US"/>
        </a:p>
      </dgm:t>
    </dgm:pt>
    <dgm:pt modelId="{BD4AF342-B571-4187-918F-61AEA44966AB}" type="parTrans" cxnId="{A9171E48-AF92-4BA4-981C-D8BDB4101310}">
      <dgm:prSet/>
      <dgm:spPr/>
      <dgm:t>
        <a:bodyPr/>
        <a:lstStyle/>
        <a:p>
          <a:endParaRPr lang="en-US"/>
        </a:p>
      </dgm:t>
    </dgm:pt>
    <dgm:pt modelId="{A36355F0-4737-44A6-974D-97F0452D5FFA}" type="sibTrans" cxnId="{A9171E48-AF92-4BA4-981C-D8BDB4101310}">
      <dgm:prSet/>
      <dgm:spPr/>
      <dgm:t>
        <a:bodyPr/>
        <a:lstStyle/>
        <a:p>
          <a:endParaRPr lang="en-US"/>
        </a:p>
      </dgm:t>
    </dgm:pt>
    <dgm:pt modelId="{547260E6-C5F8-4A55-A6F5-A5B4B6268E84}">
      <dgm:prSet/>
      <dgm:spPr/>
      <dgm:t>
        <a:bodyPr/>
        <a:lstStyle/>
        <a:p>
          <a:r>
            <a:rPr lang="en-US"/>
            <a:t>pfSense. (2024). </a:t>
          </a:r>
          <a:r>
            <a:rPr lang="en-US" i="1"/>
            <a:t>pfSense Firewall Documentation.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6"/>
            </a:rPr>
            <a:t>https://docs.netgate.com/pfsense</a:t>
          </a:r>
          <a:endParaRPr lang="en-US"/>
        </a:p>
      </dgm:t>
    </dgm:pt>
    <dgm:pt modelId="{BCB43D5D-1E88-4AC6-AA9F-3E1D8AEF4D9D}" type="parTrans" cxnId="{312815F9-F190-4A11-810A-5C96E5B3093A}">
      <dgm:prSet/>
      <dgm:spPr/>
      <dgm:t>
        <a:bodyPr/>
        <a:lstStyle/>
        <a:p>
          <a:endParaRPr lang="en-US"/>
        </a:p>
      </dgm:t>
    </dgm:pt>
    <dgm:pt modelId="{F3A25AF4-2167-4C94-8D34-BDCEC538C2A2}" type="sibTrans" cxnId="{312815F9-F190-4A11-810A-5C96E5B3093A}">
      <dgm:prSet/>
      <dgm:spPr/>
      <dgm:t>
        <a:bodyPr/>
        <a:lstStyle/>
        <a:p>
          <a:endParaRPr lang="en-US"/>
        </a:p>
      </dgm:t>
    </dgm:pt>
    <dgm:pt modelId="{499261A5-5637-4175-8773-1510D96EB8C3}">
      <dgm:prSet/>
      <dgm:spPr/>
      <dgm:t>
        <a:bodyPr/>
        <a:lstStyle/>
        <a:p>
          <a:r>
            <a:rPr lang="en-US"/>
            <a:t>MITRE Corporation. (2024). </a:t>
          </a:r>
          <a:r>
            <a:rPr lang="en-US" i="1"/>
            <a:t>MITRE ATT&amp;CK Framework.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7"/>
            </a:rPr>
            <a:t>https://attack.mitre.org</a:t>
          </a:r>
          <a:endParaRPr lang="en-US"/>
        </a:p>
      </dgm:t>
    </dgm:pt>
    <dgm:pt modelId="{A07F0E68-6BDF-4A1A-A4BC-3E76D378671D}" type="parTrans" cxnId="{6768CC3F-BCFC-4030-8C22-6943631C8D04}">
      <dgm:prSet/>
      <dgm:spPr/>
      <dgm:t>
        <a:bodyPr/>
        <a:lstStyle/>
        <a:p>
          <a:endParaRPr lang="en-US"/>
        </a:p>
      </dgm:t>
    </dgm:pt>
    <dgm:pt modelId="{B90DD61B-4E4B-494E-A1A7-57B06BE801AD}" type="sibTrans" cxnId="{6768CC3F-BCFC-4030-8C22-6943631C8D04}">
      <dgm:prSet/>
      <dgm:spPr/>
      <dgm:t>
        <a:bodyPr/>
        <a:lstStyle/>
        <a:p>
          <a:endParaRPr lang="en-US"/>
        </a:p>
      </dgm:t>
    </dgm:pt>
    <dgm:pt modelId="{35F73E0B-D8B8-4625-822D-ABDDDB0074E5}">
      <dgm:prSet/>
      <dgm:spPr/>
      <dgm:t>
        <a:bodyPr/>
        <a:lstStyle/>
        <a:p>
          <a:r>
            <a:rPr lang="en-US"/>
            <a:t>AlienVault OTX. (2024). </a:t>
          </a:r>
          <a:r>
            <a:rPr lang="en-US" i="1"/>
            <a:t>Open Threat Exchange.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8"/>
            </a:rPr>
            <a:t>https://otx.alienvault.com</a:t>
          </a:r>
          <a:endParaRPr lang="en-US"/>
        </a:p>
      </dgm:t>
    </dgm:pt>
    <dgm:pt modelId="{B85AA7E0-51F3-4E29-B3BB-7BB214A37A7C}" type="parTrans" cxnId="{B07E5EDF-A53C-42CB-AF6C-183EA0F7CB5A}">
      <dgm:prSet/>
      <dgm:spPr/>
      <dgm:t>
        <a:bodyPr/>
        <a:lstStyle/>
        <a:p>
          <a:endParaRPr lang="en-US"/>
        </a:p>
      </dgm:t>
    </dgm:pt>
    <dgm:pt modelId="{8217E54F-53D4-48D8-B063-B58438443A31}" type="sibTrans" cxnId="{B07E5EDF-A53C-42CB-AF6C-183EA0F7CB5A}">
      <dgm:prSet/>
      <dgm:spPr/>
      <dgm:t>
        <a:bodyPr/>
        <a:lstStyle/>
        <a:p>
          <a:endParaRPr lang="en-US"/>
        </a:p>
      </dgm:t>
    </dgm:pt>
    <dgm:pt modelId="{5A673305-3D5A-416C-9BC8-04DE6BE24B31}">
      <dgm:prSet/>
      <dgm:spPr/>
      <dgm:t>
        <a:bodyPr/>
        <a:lstStyle/>
        <a:p>
          <a:r>
            <a:rPr lang="en-US"/>
            <a:t>VirusTotal. (2024). </a:t>
          </a:r>
          <a:r>
            <a:rPr lang="en-US" i="1"/>
            <a:t>VirusTotal Documentation.</a:t>
          </a:r>
          <a:r>
            <a:rPr lang="en-US"/>
            <a:t> </a:t>
          </a:r>
          <a:r>
            <a:rPr lang="en-US">
              <a:hlinkClick xmlns:r="http://schemas.openxmlformats.org/officeDocument/2006/relationships" r:id="rId9"/>
            </a:rPr>
            <a:t>https://developers.virustotal.com</a:t>
          </a:r>
          <a:endParaRPr lang="en-US"/>
        </a:p>
      </dgm:t>
    </dgm:pt>
    <dgm:pt modelId="{C91C112C-4808-4EAA-8005-D96EB4228224}" type="parTrans" cxnId="{F4955D0D-558E-4BCB-BDD4-8AF6A8ED8BB9}">
      <dgm:prSet/>
      <dgm:spPr/>
      <dgm:t>
        <a:bodyPr/>
        <a:lstStyle/>
        <a:p>
          <a:endParaRPr lang="en-US"/>
        </a:p>
      </dgm:t>
    </dgm:pt>
    <dgm:pt modelId="{0A2741A8-A776-4EE8-8084-AF1439647351}" type="sibTrans" cxnId="{F4955D0D-558E-4BCB-BDD4-8AF6A8ED8BB9}">
      <dgm:prSet/>
      <dgm:spPr/>
      <dgm:t>
        <a:bodyPr/>
        <a:lstStyle/>
        <a:p>
          <a:endParaRPr lang="en-US"/>
        </a:p>
      </dgm:t>
    </dgm:pt>
    <dgm:pt modelId="{DFEE7950-F056-43C6-9D01-926A66C4BD25}" type="pres">
      <dgm:prSet presAssocID="{BF22BC8B-5651-4AB1-BA2B-873D19044EEA}" presName="vert0" presStyleCnt="0">
        <dgm:presLayoutVars>
          <dgm:dir/>
          <dgm:animOne val="branch"/>
          <dgm:animLvl val="lvl"/>
        </dgm:presLayoutVars>
      </dgm:prSet>
      <dgm:spPr/>
    </dgm:pt>
    <dgm:pt modelId="{B0C1C624-A239-423C-B925-02D5AD6D60AD}" type="pres">
      <dgm:prSet presAssocID="{6CC03B91-018C-4246-A3D5-7115E81C73A8}" presName="thickLine" presStyleLbl="alignNode1" presStyleIdx="0" presStyleCnt="12"/>
      <dgm:spPr/>
    </dgm:pt>
    <dgm:pt modelId="{BEA1601E-EF19-467E-BFB5-2261790E6564}" type="pres">
      <dgm:prSet presAssocID="{6CC03B91-018C-4246-A3D5-7115E81C73A8}" presName="horz1" presStyleCnt="0"/>
      <dgm:spPr/>
    </dgm:pt>
    <dgm:pt modelId="{F33E64BC-C6C3-4D8D-91DF-3ACBF965A415}" type="pres">
      <dgm:prSet presAssocID="{6CC03B91-018C-4246-A3D5-7115E81C73A8}" presName="tx1" presStyleLbl="revTx" presStyleIdx="0" presStyleCnt="12"/>
      <dgm:spPr/>
    </dgm:pt>
    <dgm:pt modelId="{25723EAD-E34C-4219-8E22-140C71EA78D7}" type="pres">
      <dgm:prSet presAssocID="{6CC03B91-018C-4246-A3D5-7115E81C73A8}" presName="vert1" presStyleCnt="0"/>
      <dgm:spPr/>
    </dgm:pt>
    <dgm:pt modelId="{7124A958-A714-4C15-BAE5-C78935FBE612}" type="pres">
      <dgm:prSet presAssocID="{06BE6987-4EAD-4C4E-9C41-D52A97D0E836}" presName="thickLine" presStyleLbl="alignNode1" presStyleIdx="1" presStyleCnt="12"/>
      <dgm:spPr/>
    </dgm:pt>
    <dgm:pt modelId="{752F3B69-4EBC-4903-A57D-EA654414F9E6}" type="pres">
      <dgm:prSet presAssocID="{06BE6987-4EAD-4C4E-9C41-D52A97D0E836}" presName="horz1" presStyleCnt="0"/>
      <dgm:spPr/>
    </dgm:pt>
    <dgm:pt modelId="{A98F4789-69A0-4F34-85FD-171E7A364BEE}" type="pres">
      <dgm:prSet presAssocID="{06BE6987-4EAD-4C4E-9C41-D52A97D0E836}" presName="tx1" presStyleLbl="revTx" presStyleIdx="1" presStyleCnt="12"/>
      <dgm:spPr/>
    </dgm:pt>
    <dgm:pt modelId="{955AE626-33E7-455B-A320-5500E833235E}" type="pres">
      <dgm:prSet presAssocID="{06BE6987-4EAD-4C4E-9C41-D52A97D0E836}" presName="vert1" presStyleCnt="0"/>
      <dgm:spPr/>
    </dgm:pt>
    <dgm:pt modelId="{92ABAEEE-FF00-4CE7-ACF2-5FFE66C79C3E}" type="pres">
      <dgm:prSet presAssocID="{2F726A62-6866-48BC-AA7E-A762FB92C306}" presName="thickLine" presStyleLbl="alignNode1" presStyleIdx="2" presStyleCnt="12"/>
      <dgm:spPr/>
    </dgm:pt>
    <dgm:pt modelId="{8CB91756-C078-47F0-8E2C-35452ECDE8BD}" type="pres">
      <dgm:prSet presAssocID="{2F726A62-6866-48BC-AA7E-A762FB92C306}" presName="horz1" presStyleCnt="0"/>
      <dgm:spPr/>
    </dgm:pt>
    <dgm:pt modelId="{8663BE93-C391-4EE7-BE27-151B41970E42}" type="pres">
      <dgm:prSet presAssocID="{2F726A62-6866-48BC-AA7E-A762FB92C306}" presName="tx1" presStyleLbl="revTx" presStyleIdx="2" presStyleCnt="12"/>
      <dgm:spPr/>
    </dgm:pt>
    <dgm:pt modelId="{DBF40039-1B91-481B-9727-B129589B0AE6}" type="pres">
      <dgm:prSet presAssocID="{2F726A62-6866-48BC-AA7E-A762FB92C306}" presName="vert1" presStyleCnt="0"/>
      <dgm:spPr/>
    </dgm:pt>
    <dgm:pt modelId="{39676132-ED1B-46F8-82CA-02D8E12F5601}" type="pres">
      <dgm:prSet presAssocID="{2EDC2668-CA54-4A05-AC1C-89BF21B32A0A}" presName="thickLine" presStyleLbl="alignNode1" presStyleIdx="3" presStyleCnt="12"/>
      <dgm:spPr/>
    </dgm:pt>
    <dgm:pt modelId="{48F6ABE0-0367-42EE-A988-06A7D120F772}" type="pres">
      <dgm:prSet presAssocID="{2EDC2668-CA54-4A05-AC1C-89BF21B32A0A}" presName="horz1" presStyleCnt="0"/>
      <dgm:spPr/>
    </dgm:pt>
    <dgm:pt modelId="{9CF2337A-F5C7-473A-9AA0-45AE029BCB20}" type="pres">
      <dgm:prSet presAssocID="{2EDC2668-CA54-4A05-AC1C-89BF21B32A0A}" presName="tx1" presStyleLbl="revTx" presStyleIdx="3" presStyleCnt="12"/>
      <dgm:spPr/>
    </dgm:pt>
    <dgm:pt modelId="{F65BB96F-04A7-459D-BCCD-561D2AF5E8F7}" type="pres">
      <dgm:prSet presAssocID="{2EDC2668-CA54-4A05-AC1C-89BF21B32A0A}" presName="vert1" presStyleCnt="0"/>
      <dgm:spPr/>
    </dgm:pt>
    <dgm:pt modelId="{8CFA84E7-B042-45ED-9827-7269F9C83766}" type="pres">
      <dgm:prSet presAssocID="{17111D24-C3A4-462C-BFA4-FBF9EAB86C59}" presName="thickLine" presStyleLbl="alignNode1" presStyleIdx="4" presStyleCnt="12"/>
      <dgm:spPr/>
    </dgm:pt>
    <dgm:pt modelId="{D7EA2049-C384-4CC3-A5BB-2D0190F86D84}" type="pres">
      <dgm:prSet presAssocID="{17111D24-C3A4-462C-BFA4-FBF9EAB86C59}" presName="horz1" presStyleCnt="0"/>
      <dgm:spPr/>
    </dgm:pt>
    <dgm:pt modelId="{42091529-A87C-43E3-9BB4-E23A042D0DAC}" type="pres">
      <dgm:prSet presAssocID="{17111D24-C3A4-462C-BFA4-FBF9EAB86C59}" presName="tx1" presStyleLbl="revTx" presStyleIdx="4" presStyleCnt="12"/>
      <dgm:spPr/>
    </dgm:pt>
    <dgm:pt modelId="{F2A0616F-1DBD-4F09-9E4C-8C14939E9817}" type="pres">
      <dgm:prSet presAssocID="{17111D24-C3A4-462C-BFA4-FBF9EAB86C59}" presName="vert1" presStyleCnt="0"/>
      <dgm:spPr/>
    </dgm:pt>
    <dgm:pt modelId="{952C4A96-31AC-4C5B-A3D8-7BC40DDC57D0}" type="pres">
      <dgm:prSet presAssocID="{3DE758DF-207F-49C5-A799-5F408FE97192}" presName="thickLine" presStyleLbl="alignNode1" presStyleIdx="5" presStyleCnt="12"/>
      <dgm:spPr/>
    </dgm:pt>
    <dgm:pt modelId="{57D3671D-4148-4000-8D81-75AC90D8CAC8}" type="pres">
      <dgm:prSet presAssocID="{3DE758DF-207F-49C5-A799-5F408FE97192}" presName="horz1" presStyleCnt="0"/>
      <dgm:spPr/>
    </dgm:pt>
    <dgm:pt modelId="{AF16C9B9-0DCA-4460-B7E7-DE50F195A4F5}" type="pres">
      <dgm:prSet presAssocID="{3DE758DF-207F-49C5-A799-5F408FE97192}" presName="tx1" presStyleLbl="revTx" presStyleIdx="5" presStyleCnt="12"/>
      <dgm:spPr/>
    </dgm:pt>
    <dgm:pt modelId="{4DE48720-2666-4952-ABCF-18D0FB6C5E34}" type="pres">
      <dgm:prSet presAssocID="{3DE758DF-207F-49C5-A799-5F408FE97192}" presName="vert1" presStyleCnt="0"/>
      <dgm:spPr/>
    </dgm:pt>
    <dgm:pt modelId="{B4D02E75-67F7-427B-AE34-3ADECE69A717}" type="pres">
      <dgm:prSet presAssocID="{C2F49BBF-67BD-4762-A3FE-A7CD1DCE663B}" presName="thickLine" presStyleLbl="alignNode1" presStyleIdx="6" presStyleCnt="12"/>
      <dgm:spPr/>
    </dgm:pt>
    <dgm:pt modelId="{A12421E7-CD03-4048-9C51-0762A2C80438}" type="pres">
      <dgm:prSet presAssocID="{C2F49BBF-67BD-4762-A3FE-A7CD1DCE663B}" presName="horz1" presStyleCnt="0"/>
      <dgm:spPr/>
    </dgm:pt>
    <dgm:pt modelId="{7E881300-13E7-440B-83A7-54AFC58E0895}" type="pres">
      <dgm:prSet presAssocID="{C2F49BBF-67BD-4762-A3FE-A7CD1DCE663B}" presName="tx1" presStyleLbl="revTx" presStyleIdx="6" presStyleCnt="12"/>
      <dgm:spPr/>
    </dgm:pt>
    <dgm:pt modelId="{FE78EE5C-D2EF-4EB6-B266-B06D2D23F528}" type="pres">
      <dgm:prSet presAssocID="{C2F49BBF-67BD-4762-A3FE-A7CD1DCE663B}" presName="vert1" presStyleCnt="0"/>
      <dgm:spPr/>
    </dgm:pt>
    <dgm:pt modelId="{29196278-73A8-42E9-9A91-5E9FA1AF9CCA}" type="pres">
      <dgm:prSet presAssocID="{E4BB61BF-A309-4F9A-96FA-E0415E27A0EB}" presName="thickLine" presStyleLbl="alignNode1" presStyleIdx="7" presStyleCnt="12"/>
      <dgm:spPr/>
    </dgm:pt>
    <dgm:pt modelId="{58061021-C5AA-48D9-A478-C44A1F0A9894}" type="pres">
      <dgm:prSet presAssocID="{E4BB61BF-A309-4F9A-96FA-E0415E27A0EB}" presName="horz1" presStyleCnt="0"/>
      <dgm:spPr/>
    </dgm:pt>
    <dgm:pt modelId="{DB887992-5290-489F-B0AD-B1C756DF75BD}" type="pres">
      <dgm:prSet presAssocID="{E4BB61BF-A309-4F9A-96FA-E0415E27A0EB}" presName="tx1" presStyleLbl="revTx" presStyleIdx="7" presStyleCnt="12"/>
      <dgm:spPr/>
    </dgm:pt>
    <dgm:pt modelId="{4D506464-1CD1-466F-AB06-2B91D506F5B1}" type="pres">
      <dgm:prSet presAssocID="{E4BB61BF-A309-4F9A-96FA-E0415E27A0EB}" presName="vert1" presStyleCnt="0"/>
      <dgm:spPr/>
    </dgm:pt>
    <dgm:pt modelId="{C12A262D-67FA-4880-BC29-2E402DD0914A}" type="pres">
      <dgm:prSet presAssocID="{547260E6-C5F8-4A55-A6F5-A5B4B6268E84}" presName="thickLine" presStyleLbl="alignNode1" presStyleIdx="8" presStyleCnt="12"/>
      <dgm:spPr/>
    </dgm:pt>
    <dgm:pt modelId="{3F6E979F-737F-4B33-859A-565522483C07}" type="pres">
      <dgm:prSet presAssocID="{547260E6-C5F8-4A55-A6F5-A5B4B6268E84}" presName="horz1" presStyleCnt="0"/>
      <dgm:spPr/>
    </dgm:pt>
    <dgm:pt modelId="{7314EF8F-665A-47BE-85AF-DDD4019D959A}" type="pres">
      <dgm:prSet presAssocID="{547260E6-C5F8-4A55-A6F5-A5B4B6268E84}" presName="tx1" presStyleLbl="revTx" presStyleIdx="8" presStyleCnt="12"/>
      <dgm:spPr/>
    </dgm:pt>
    <dgm:pt modelId="{76B6E933-518F-4EA7-8B8A-D7DBEE28F8D4}" type="pres">
      <dgm:prSet presAssocID="{547260E6-C5F8-4A55-A6F5-A5B4B6268E84}" presName="vert1" presStyleCnt="0"/>
      <dgm:spPr/>
    </dgm:pt>
    <dgm:pt modelId="{93480F17-2B34-4A40-8BF3-0DC7AF37716F}" type="pres">
      <dgm:prSet presAssocID="{499261A5-5637-4175-8773-1510D96EB8C3}" presName="thickLine" presStyleLbl="alignNode1" presStyleIdx="9" presStyleCnt="12"/>
      <dgm:spPr/>
    </dgm:pt>
    <dgm:pt modelId="{6760FDC0-1572-428C-9013-39A651556393}" type="pres">
      <dgm:prSet presAssocID="{499261A5-5637-4175-8773-1510D96EB8C3}" presName="horz1" presStyleCnt="0"/>
      <dgm:spPr/>
    </dgm:pt>
    <dgm:pt modelId="{0297BEB7-44A9-4D37-9C19-A86862B6E6E7}" type="pres">
      <dgm:prSet presAssocID="{499261A5-5637-4175-8773-1510D96EB8C3}" presName="tx1" presStyleLbl="revTx" presStyleIdx="9" presStyleCnt="12"/>
      <dgm:spPr/>
    </dgm:pt>
    <dgm:pt modelId="{696CBF1A-B9E9-4B4D-9156-B6B4E594FA55}" type="pres">
      <dgm:prSet presAssocID="{499261A5-5637-4175-8773-1510D96EB8C3}" presName="vert1" presStyleCnt="0"/>
      <dgm:spPr/>
    </dgm:pt>
    <dgm:pt modelId="{305ADC91-C0CB-416F-8468-531256D67351}" type="pres">
      <dgm:prSet presAssocID="{35F73E0B-D8B8-4625-822D-ABDDDB0074E5}" presName="thickLine" presStyleLbl="alignNode1" presStyleIdx="10" presStyleCnt="12"/>
      <dgm:spPr/>
    </dgm:pt>
    <dgm:pt modelId="{7E95CD4E-CB54-480A-B9D7-089EAD7B5D43}" type="pres">
      <dgm:prSet presAssocID="{35F73E0B-D8B8-4625-822D-ABDDDB0074E5}" presName="horz1" presStyleCnt="0"/>
      <dgm:spPr/>
    </dgm:pt>
    <dgm:pt modelId="{067863E4-1E95-45CA-93EC-FF22AF134DF0}" type="pres">
      <dgm:prSet presAssocID="{35F73E0B-D8B8-4625-822D-ABDDDB0074E5}" presName="tx1" presStyleLbl="revTx" presStyleIdx="10" presStyleCnt="12"/>
      <dgm:spPr/>
    </dgm:pt>
    <dgm:pt modelId="{B8C32551-C690-4B5F-8C67-31874B51EECE}" type="pres">
      <dgm:prSet presAssocID="{35F73E0B-D8B8-4625-822D-ABDDDB0074E5}" presName="vert1" presStyleCnt="0"/>
      <dgm:spPr/>
    </dgm:pt>
    <dgm:pt modelId="{265CB397-1083-42F9-A028-1C8EF5460C11}" type="pres">
      <dgm:prSet presAssocID="{5A673305-3D5A-416C-9BC8-04DE6BE24B31}" presName="thickLine" presStyleLbl="alignNode1" presStyleIdx="11" presStyleCnt="12"/>
      <dgm:spPr/>
    </dgm:pt>
    <dgm:pt modelId="{263B513E-9C84-4958-8103-B0E546C7AED2}" type="pres">
      <dgm:prSet presAssocID="{5A673305-3D5A-416C-9BC8-04DE6BE24B31}" presName="horz1" presStyleCnt="0"/>
      <dgm:spPr/>
    </dgm:pt>
    <dgm:pt modelId="{7CE40885-702B-434C-9260-AC70CA47B5F0}" type="pres">
      <dgm:prSet presAssocID="{5A673305-3D5A-416C-9BC8-04DE6BE24B31}" presName="tx1" presStyleLbl="revTx" presStyleIdx="11" presStyleCnt="12"/>
      <dgm:spPr/>
    </dgm:pt>
    <dgm:pt modelId="{2D5996AD-EA75-433B-AD43-01B5D43FA538}" type="pres">
      <dgm:prSet presAssocID="{5A673305-3D5A-416C-9BC8-04DE6BE24B31}" presName="vert1" presStyleCnt="0"/>
      <dgm:spPr/>
    </dgm:pt>
  </dgm:ptLst>
  <dgm:cxnLst>
    <dgm:cxn modelId="{14296404-E68E-4581-BFFB-6070931E2D8D}" type="presOf" srcId="{06BE6987-4EAD-4C4E-9C41-D52A97D0E836}" destId="{A98F4789-69A0-4F34-85FD-171E7A364BEE}" srcOrd="0" destOrd="0" presId="urn:microsoft.com/office/officeart/2008/layout/LinedList"/>
    <dgm:cxn modelId="{36C1EE0B-5967-433C-82B5-3ECB360F0A4D}" srcId="{BF22BC8B-5651-4AB1-BA2B-873D19044EEA}" destId="{2EDC2668-CA54-4A05-AC1C-89BF21B32A0A}" srcOrd="3" destOrd="0" parTransId="{FEE3F5A4-CC12-4EF0-85D1-4C36581EEDCA}" sibTransId="{645043FE-D87D-4371-8706-92D2046BF6CF}"/>
    <dgm:cxn modelId="{F4955D0D-558E-4BCB-BDD4-8AF6A8ED8BB9}" srcId="{BF22BC8B-5651-4AB1-BA2B-873D19044EEA}" destId="{5A673305-3D5A-416C-9BC8-04DE6BE24B31}" srcOrd="11" destOrd="0" parTransId="{C91C112C-4808-4EAA-8005-D96EB4228224}" sibTransId="{0A2741A8-A776-4EE8-8084-AF1439647351}"/>
    <dgm:cxn modelId="{1BAD0510-8C0D-44BA-B0DA-20E9C96A1004}" type="presOf" srcId="{2EDC2668-CA54-4A05-AC1C-89BF21B32A0A}" destId="{9CF2337A-F5C7-473A-9AA0-45AE029BCB20}" srcOrd="0" destOrd="0" presId="urn:microsoft.com/office/officeart/2008/layout/LinedList"/>
    <dgm:cxn modelId="{FFBC1811-CA4F-4AA5-A3A0-016062211EFE}" srcId="{BF22BC8B-5651-4AB1-BA2B-873D19044EEA}" destId="{C2F49BBF-67BD-4762-A3FE-A7CD1DCE663B}" srcOrd="6" destOrd="0" parTransId="{66050084-1A85-47B7-8F2E-870CBC7C1462}" sibTransId="{C3E369BD-F2BA-4F3C-AAA0-11214E73443F}"/>
    <dgm:cxn modelId="{646FFB14-AB0C-4A6E-AABF-0BA07B93FF26}" type="presOf" srcId="{3DE758DF-207F-49C5-A799-5F408FE97192}" destId="{AF16C9B9-0DCA-4460-B7E7-DE50F195A4F5}" srcOrd="0" destOrd="0" presId="urn:microsoft.com/office/officeart/2008/layout/LinedList"/>
    <dgm:cxn modelId="{6768CC3F-BCFC-4030-8C22-6943631C8D04}" srcId="{BF22BC8B-5651-4AB1-BA2B-873D19044EEA}" destId="{499261A5-5637-4175-8773-1510D96EB8C3}" srcOrd="9" destOrd="0" parTransId="{A07F0E68-6BDF-4A1A-A4BC-3E76D378671D}" sibTransId="{B90DD61B-4E4B-494E-A1A7-57B06BE801AD}"/>
    <dgm:cxn modelId="{4AB62140-6243-45AF-B904-BFBA8BF704E9}" type="presOf" srcId="{C2F49BBF-67BD-4762-A3FE-A7CD1DCE663B}" destId="{7E881300-13E7-440B-83A7-54AFC58E0895}" srcOrd="0" destOrd="0" presId="urn:microsoft.com/office/officeart/2008/layout/LinedList"/>
    <dgm:cxn modelId="{A536625D-F71E-448B-BBC3-518BDF3DF5D8}" srcId="{BF22BC8B-5651-4AB1-BA2B-873D19044EEA}" destId="{3DE758DF-207F-49C5-A799-5F408FE97192}" srcOrd="5" destOrd="0" parTransId="{BFA01493-29AC-4416-92D2-2C2753C26CF0}" sibTransId="{12B84AD2-F696-4AE2-848B-5423BE2AA2AF}"/>
    <dgm:cxn modelId="{E12B125F-B46C-4BC3-A440-BFB3A9308075}" type="presOf" srcId="{35F73E0B-D8B8-4625-822D-ABDDDB0074E5}" destId="{067863E4-1E95-45CA-93EC-FF22AF134DF0}" srcOrd="0" destOrd="0" presId="urn:microsoft.com/office/officeart/2008/layout/LinedList"/>
    <dgm:cxn modelId="{F4273362-70A7-4956-B731-C06FF01A2379}" type="presOf" srcId="{17111D24-C3A4-462C-BFA4-FBF9EAB86C59}" destId="{42091529-A87C-43E3-9BB4-E23A042D0DAC}" srcOrd="0" destOrd="0" presId="urn:microsoft.com/office/officeart/2008/layout/LinedList"/>
    <dgm:cxn modelId="{A9171E48-AF92-4BA4-981C-D8BDB4101310}" srcId="{BF22BC8B-5651-4AB1-BA2B-873D19044EEA}" destId="{E4BB61BF-A309-4F9A-96FA-E0415E27A0EB}" srcOrd="7" destOrd="0" parTransId="{BD4AF342-B571-4187-918F-61AEA44966AB}" sibTransId="{A36355F0-4737-44A6-974D-97F0452D5FFA}"/>
    <dgm:cxn modelId="{6A0E6D4A-FB11-4DBA-ABC6-655EA3B0C886}" srcId="{BF22BC8B-5651-4AB1-BA2B-873D19044EEA}" destId="{6CC03B91-018C-4246-A3D5-7115E81C73A8}" srcOrd="0" destOrd="0" parTransId="{C3F3F612-1361-46CD-BDC2-6D546D20B8D5}" sibTransId="{1A9842BE-AEB8-4C63-831C-01C5A7C81D40}"/>
    <dgm:cxn modelId="{48499454-F247-4EAD-A8C4-95B3541E9B76}" type="presOf" srcId="{6CC03B91-018C-4246-A3D5-7115E81C73A8}" destId="{F33E64BC-C6C3-4D8D-91DF-3ACBF965A415}" srcOrd="0" destOrd="0" presId="urn:microsoft.com/office/officeart/2008/layout/LinedList"/>
    <dgm:cxn modelId="{BFF5ED55-F6B6-46D0-82F4-B10CFB51ED3C}" srcId="{BF22BC8B-5651-4AB1-BA2B-873D19044EEA}" destId="{2F726A62-6866-48BC-AA7E-A762FB92C306}" srcOrd="2" destOrd="0" parTransId="{51E9EE5B-E7E5-43D3-A75D-D3497B1F3949}" sibTransId="{A7F4DB48-94F3-430E-9737-56E350102A8C}"/>
    <dgm:cxn modelId="{32B4457D-646F-4A02-A00E-8449AF123845}" srcId="{BF22BC8B-5651-4AB1-BA2B-873D19044EEA}" destId="{06BE6987-4EAD-4C4E-9C41-D52A97D0E836}" srcOrd="1" destOrd="0" parTransId="{C471F00D-6664-42EF-A735-B39E22E0C2F8}" sibTransId="{B3AAD8C2-0713-44C9-9A1E-3CEF22D0735E}"/>
    <dgm:cxn modelId="{FD056E84-AEC9-4131-A62A-BA8FCAC2BA75}" type="presOf" srcId="{5A673305-3D5A-416C-9BC8-04DE6BE24B31}" destId="{7CE40885-702B-434C-9260-AC70CA47B5F0}" srcOrd="0" destOrd="0" presId="urn:microsoft.com/office/officeart/2008/layout/LinedList"/>
    <dgm:cxn modelId="{B9EE8F94-6164-4DDD-B0C2-D67B8FF2D406}" type="presOf" srcId="{E4BB61BF-A309-4F9A-96FA-E0415E27A0EB}" destId="{DB887992-5290-489F-B0AD-B1C756DF75BD}" srcOrd="0" destOrd="0" presId="urn:microsoft.com/office/officeart/2008/layout/LinedList"/>
    <dgm:cxn modelId="{97F03097-6743-4982-B4DD-AB8A43294A57}" srcId="{BF22BC8B-5651-4AB1-BA2B-873D19044EEA}" destId="{17111D24-C3A4-462C-BFA4-FBF9EAB86C59}" srcOrd="4" destOrd="0" parTransId="{6661A1F6-E6C1-490D-AC3B-BB136B6EBC9F}" sibTransId="{2DBC58E0-E1BE-477B-A5F1-BC68A8F4F1D1}"/>
    <dgm:cxn modelId="{9F22D3AB-2E3C-480C-8182-949FDCEC9CEA}" type="presOf" srcId="{2F726A62-6866-48BC-AA7E-A762FB92C306}" destId="{8663BE93-C391-4EE7-BE27-151B41970E42}" srcOrd="0" destOrd="0" presId="urn:microsoft.com/office/officeart/2008/layout/LinedList"/>
    <dgm:cxn modelId="{B07E5EDF-A53C-42CB-AF6C-183EA0F7CB5A}" srcId="{BF22BC8B-5651-4AB1-BA2B-873D19044EEA}" destId="{35F73E0B-D8B8-4625-822D-ABDDDB0074E5}" srcOrd="10" destOrd="0" parTransId="{B85AA7E0-51F3-4E29-B3BB-7BB214A37A7C}" sibTransId="{8217E54F-53D4-48D8-B063-B58438443A31}"/>
    <dgm:cxn modelId="{63B70EE0-D0FE-4568-8FAA-6A8719C9CF55}" type="presOf" srcId="{BF22BC8B-5651-4AB1-BA2B-873D19044EEA}" destId="{DFEE7950-F056-43C6-9D01-926A66C4BD25}" srcOrd="0" destOrd="0" presId="urn:microsoft.com/office/officeart/2008/layout/LinedList"/>
    <dgm:cxn modelId="{D1C2B5E8-268C-4321-B202-9F3EC66AE608}" type="presOf" srcId="{547260E6-C5F8-4A55-A6F5-A5B4B6268E84}" destId="{7314EF8F-665A-47BE-85AF-DDD4019D959A}" srcOrd="0" destOrd="0" presId="urn:microsoft.com/office/officeart/2008/layout/LinedList"/>
    <dgm:cxn modelId="{D3B883F5-9282-406F-84EC-6BAEB49C51A3}" type="presOf" srcId="{499261A5-5637-4175-8773-1510D96EB8C3}" destId="{0297BEB7-44A9-4D37-9C19-A86862B6E6E7}" srcOrd="0" destOrd="0" presId="urn:microsoft.com/office/officeart/2008/layout/LinedList"/>
    <dgm:cxn modelId="{312815F9-F190-4A11-810A-5C96E5B3093A}" srcId="{BF22BC8B-5651-4AB1-BA2B-873D19044EEA}" destId="{547260E6-C5F8-4A55-A6F5-A5B4B6268E84}" srcOrd="8" destOrd="0" parTransId="{BCB43D5D-1E88-4AC6-AA9F-3E1D8AEF4D9D}" sibTransId="{F3A25AF4-2167-4C94-8D34-BDCEC538C2A2}"/>
    <dgm:cxn modelId="{2BFAD17E-A329-4AC1-8D66-1829D3B928E8}" type="presParOf" srcId="{DFEE7950-F056-43C6-9D01-926A66C4BD25}" destId="{B0C1C624-A239-423C-B925-02D5AD6D60AD}" srcOrd="0" destOrd="0" presId="urn:microsoft.com/office/officeart/2008/layout/LinedList"/>
    <dgm:cxn modelId="{1ABC9C0B-9BA7-4119-9C2F-CB04E2E67302}" type="presParOf" srcId="{DFEE7950-F056-43C6-9D01-926A66C4BD25}" destId="{BEA1601E-EF19-467E-BFB5-2261790E6564}" srcOrd="1" destOrd="0" presId="urn:microsoft.com/office/officeart/2008/layout/LinedList"/>
    <dgm:cxn modelId="{5E9EFAD6-95B3-4562-8480-578E0C20BB95}" type="presParOf" srcId="{BEA1601E-EF19-467E-BFB5-2261790E6564}" destId="{F33E64BC-C6C3-4D8D-91DF-3ACBF965A415}" srcOrd="0" destOrd="0" presId="urn:microsoft.com/office/officeart/2008/layout/LinedList"/>
    <dgm:cxn modelId="{3A38572C-7AE6-4931-A31F-C4FD09911F8C}" type="presParOf" srcId="{BEA1601E-EF19-467E-BFB5-2261790E6564}" destId="{25723EAD-E34C-4219-8E22-140C71EA78D7}" srcOrd="1" destOrd="0" presId="urn:microsoft.com/office/officeart/2008/layout/LinedList"/>
    <dgm:cxn modelId="{1F89798A-2E1C-4924-B5B3-54D859684B53}" type="presParOf" srcId="{DFEE7950-F056-43C6-9D01-926A66C4BD25}" destId="{7124A958-A714-4C15-BAE5-C78935FBE612}" srcOrd="2" destOrd="0" presId="urn:microsoft.com/office/officeart/2008/layout/LinedList"/>
    <dgm:cxn modelId="{627667E8-A10B-407B-886B-06D2760562FE}" type="presParOf" srcId="{DFEE7950-F056-43C6-9D01-926A66C4BD25}" destId="{752F3B69-4EBC-4903-A57D-EA654414F9E6}" srcOrd="3" destOrd="0" presId="urn:microsoft.com/office/officeart/2008/layout/LinedList"/>
    <dgm:cxn modelId="{FD8642EC-040E-48CF-A569-C808990914D4}" type="presParOf" srcId="{752F3B69-4EBC-4903-A57D-EA654414F9E6}" destId="{A98F4789-69A0-4F34-85FD-171E7A364BEE}" srcOrd="0" destOrd="0" presId="urn:microsoft.com/office/officeart/2008/layout/LinedList"/>
    <dgm:cxn modelId="{AE0551C1-21C0-4290-987C-D93E77D37CD1}" type="presParOf" srcId="{752F3B69-4EBC-4903-A57D-EA654414F9E6}" destId="{955AE626-33E7-455B-A320-5500E833235E}" srcOrd="1" destOrd="0" presId="urn:microsoft.com/office/officeart/2008/layout/LinedList"/>
    <dgm:cxn modelId="{2A235E68-02AB-4364-8479-0CA8B898243F}" type="presParOf" srcId="{DFEE7950-F056-43C6-9D01-926A66C4BD25}" destId="{92ABAEEE-FF00-4CE7-ACF2-5FFE66C79C3E}" srcOrd="4" destOrd="0" presId="urn:microsoft.com/office/officeart/2008/layout/LinedList"/>
    <dgm:cxn modelId="{C6218F88-BCC3-4012-B4D7-B68EB756A3C7}" type="presParOf" srcId="{DFEE7950-F056-43C6-9D01-926A66C4BD25}" destId="{8CB91756-C078-47F0-8E2C-35452ECDE8BD}" srcOrd="5" destOrd="0" presId="urn:microsoft.com/office/officeart/2008/layout/LinedList"/>
    <dgm:cxn modelId="{80232167-76B7-4A3A-9D4A-86DB31957FDC}" type="presParOf" srcId="{8CB91756-C078-47F0-8E2C-35452ECDE8BD}" destId="{8663BE93-C391-4EE7-BE27-151B41970E42}" srcOrd="0" destOrd="0" presId="urn:microsoft.com/office/officeart/2008/layout/LinedList"/>
    <dgm:cxn modelId="{6C699C18-C5E3-4055-B5DB-3C5629939A8E}" type="presParOf" srcId="{8CB91756-C078-47F0-8E2C-35452ECDE8BD}" destId="{DBF40039-1B91-481B-9727-B129589B0AE6}" srcOrd="1" destOrd="0" presId="urn:microsoft.com/office/officeart/2008/layout/LinedList"/>
    <dgm:cxn modelId="{977D2D06-C011-4E92-8DD2-5F9065EAFAA0}" type="presParOf" srcId="{DFEE7950-F056-43C6-9D01-926A66C4BD25}" destId="{39676132-ED1B-46F8-82CA-02D8E12F5601}" srcOrd="6" destOrd="0" presId="urn:microsoft.com/office/officeart/2008/layout/LinedList"/>
    <dgm:cxn modelId="{823B5E44-F4EF-4703-8719-140359BBFBD1}" type="presParOf" srcId="{DFEE7950-F056-43C6-9D01-926A66C4BD25}" destId="{48F6ABE0-0367-42EE-A988-06A7D120F772}" srcOrd="7" destOrd="0" presId="urn:microsoft.com/office/officeart/2008/layout/LinedList"/>
    <dgm:cxn modelId="{C55DC8D2-71FB-4C07-A7F3-3026953AA71D}" type="presParOf" srcId="{48F6ABE0-0367-42EE-A988-06A7D120F772}" destId="{9CF2337A-F5C7-473A-9AA0-45AE029BCB20}" srcOrd="0" destOrd="0" presId="urn:microsoft.com/office/officeart/2008/layout/LinedList"/>
    <dgm:cxn modelId="{2CE29F7C-58A3-410C-AA89-8A9B187BFEBF}" type="presParOf" srcId="{48F6ABE0-0367-42EE-A988-06A7D120F772}" destId="{F65BB96F-04A7-459D-BCCD-561D2AF5E8F7}" srcOrd="1" destOrd="0" presId="urn:microsoft.com/office/officeart/2008/layout/LinedList"/>
    <dgm:cxn modelId="{E58916F2-62DD-4652-9542-D7E37E20A21C}" type="presParOf" srcId="{DFEE7950-F056-43C6-9D01-926A66C4BD25}" destId="{8CFA84E7-B042-45ED-9827-7269F9C83766}" srcOrd="8" destOrd="0" presId="urn:microsoft.com/office/officeart/2008/layout/LinedList"/>
    <dgm:cxn modelId="{1651999A-7190-4DD4-931C-DAB914D85859}" type="presParOf" srcId="{DFEE7950-F056-43C6-9D01-926A66C4BD25}" destId="{D7EA2049-C384-4CC3-A5BB-2D0190F86D84}" srcOrd="9" destOrd="0" presId="urn:microsoft.com/office/officeart/2008/layout/LinedList"/>
    <dgm:cxn modelId="{DF2559E4-F769-4281-8FB6-5E85A39AD3FC}" type="presParOf" srcId="{D7EA2049-C384-4CC3-A5BB-2D0190F86D84}" destId="{42091529-A87C-43E3-9BB4-E23A042D0DAC}" srcOrd="0" destOrd="0" presId="urn:microsoft.com/office/officeart/2008/layout/LinedList"/>
    <dgm:cxn modelId="{09560595-5024-4192-A43F-8C48C3ADADB1}" type="presParOf" srcId="{D7EA2049-C384-4CC3-A5BB-2D0190F86D84}" destId="{F2A0616F-1DBD-4F09-9E4C-8C14939E9817}" srcOrd="1" destOrd="0" presId="urn:microsoft.com/office/officeart/2008/layout/LinedList"/>
    <dgm:cxn modelId="{D29B3B17-51A4-4459-91B1-61BFB42B65C9}" type="presParOf" srcId="{DFEE7950-F056-43C6-9D01-926A66C4BD25}" destId="{952C4A96-31AC-4C5B-A3D8-7BC40DDC57D0}" srcOrd="10" destOrd="0" presId="urn:microsoft.com/office/officeart/2008/layout/LinedList"/>
    <dgm:cxn modelId="{762DF726-B41F-49E2-B48E-3E08B623FB75}" type="presParOf" srcId="{DFEE7950-F056-43C6-9D01-926A66C4BD25}" destId="{57D3671D-4148-4000-8D81-75AC90D8CAC8}" srcOrd="11" destOrd="0" presId="urn:microsoft.com/office/officeart/2008/layout/LinedList"/>
    <dgm:cxn modelId="{44E8A27F-8C69-47C7-A622-9127EBC0006C}" type="presParOf" srcId="{57D3671D-4148-4000-8D81-75AC90D8CAC8}" destId="{AF16C9B9-0DCA-4460-B7E7-DE50F195A4F5}" srcOrd="0" destOrd="0" presId="urn:microsoft.com/office/officeart/2008/layout/LinedList"/>
    <dgm:cxn modelId="{64149244-8CE8-460A-82D5-ABEBA24DC518}" type="presParOf" srcId="{57D3671D-4148-4000-8D81-75AC90D8CAC8}" destId="{4DE48720-2666-4952-ABCF-18D0FB6C5E34}" srcOrd="1" destOrd="0" presId="urn:microsoft.com/office/officeart/2008/layout/LinedList"/>
    <dgm:cxn modelId="{7644EBAE-AC7D-48D5-B679-F60C4F6467E7}" type="presParOf" srcId="{DFEE7950-F056-43C6-9D01-926A66C4BD25}" destId="{B4D02E75-67F7-427B-AE34-3ADECE69A717}" srcOrd="12" destOrd="0" presId="urn:microsoft.com/office/officeart/2008/layout/LinedList"/>
    <dgm:cxn modelId="{A62514DE-52AD-4305-8FEC-DFF60699020B}" type="presParOf" srcId="{DFEE7950-F056-43C6-9D01-926A66C4BD25}" destId="{A12421E7-CD03-4048-9C51-0762A2C80438}" srcOrd="13" destOrd="0" presId="urn:microsoft.com/office/officeart/2008/layout/LinedList"/>
    <dgm:cxn modelId="{2F78EC11-AB2F-445B-B418-CA29F7978692}" type="presParOf" srcId="{A12421E7-CD03-4048-9C51-0762A2C80438}" destId="{7E881300-13E7-440B-83A7-54AFC58E0895}" srcOrd="0" destOrd="0" presId="urn:microsoft.com/office/officeart/2008/layout/LinedList"/>
    <dgm:cxn modelId="{6DB6E55A-6D7B-4FB4-A636-89BCE555476F}" type="presParOf" srcId="{A12421E7-CD03-4048-9C51-0762A2C80438}" destId="{FE78EE5C-D2EF-4EB6-B266-B06D2D23F528}" srcOrd="1" destOrd="0" presId="urn:microsoft.com/office/officeart/2008/layout/LinedList"/>
    <dgm:cxn modelId="{43941D57-5F25-4543-A8EC-7326C382A7DC}" type="presParOf" srcId="{DFEE7950-F056-43C6-9D01-926A66C4BD25}" destId="{29196278-73A8-42E9-9A91-5E9FA1AF9CCA}" srcOrd="14" destOrd="0" presId="urn:microsoft.com/office/officeart/2008/layout/LinedList"/>
    <dgm:cxn modelId="{8E969D3C-B9E2-488B-A1FC-9A74FF77F505}" type="presParOf" srcId="{DFEE7950-F056-43C6-9D01-926A66C4BD25}" destId="{58061021-C5AA-48D9-A478-C44A1F0A9894}" srcOrd="15" destOrd="0" presId="urn:microsoft.com/office/officeart/2008/layout/LinedList"/>
    <dgm:cxn modelId="{034136FC-C63B-47DF-8B3F-8F65570ABE01}" type="presParOf" srcId="{58061021-C5AA-48D9-A478-C44A1F0A9894}" destId="{DB887992-5290-489F-B0AD-B1C756DF75BD}" srcOrd="0" destOrd="0" presId="urn:microsoft.com/office/officeart/2008/layout/LinedList"/>
    <dgm:cxn modelId="{F3205949-3588-47D4-82C4-04844FD90EBE}" type="presParOf" srcId="{58061021-C5AA-48D9-A478-C44A1F0A9894}" destId="{4D506464-1CD1-466F-AB06-2B91D506F5B1}" srcOrd="1" destOrd="0" presId="urn:microsoft.com/office/officeart/2008/layout/LinedList"/>
    <dgm:cxn modelId="{CE97B662-AF61-4663-8840-028659208326}" type="presParOf" srcId="{DFEE7950-F056-43C6-9D01-926A66C4BD25}" destId="{C12A262D-67FA-4880-BC29-2E402DD0914A}" srcOrd="16" destOrd="0" presId="urn:microsoft.com/office/officeart/2008/layout/LinedList"/>
    <dgm:cxn modelId="{9DF73F0F-6895-4FCD-8004-EDC5CBAD963E}" type="presParOf" srcId="{DFEE7950-F056-43C6-9D01-926A66C4BD25}" destId="{3F6E979F-737F-4B33-859A-565522483C07}" srcOrd="17" destOrd="0" presId="urn:microsoft.com/office/officeart/2008/layout/LinedList"/>
    <dgm:cxn modelId="{0CA5C29E-30A6-49F4-9CEB-50AF3971B5F2}" type="presParOf" srcId="{3F6E979F-737F-4B33-859A-565522483C07}" destId="{7314EF8F-665A-47BE-85AF-DDD4019D959A}" srcOrd="0" destOrd="0" presId="urn:microsoft.com/office/officeart/2008/layout/LinedList"/>
    <dgm:cxn modelId="{F77F5CAE-C9C2-4045-A33C-0995B2CED17A}" type="presParOf" srcId="{3F6E979F-737F-4B33-859A-565522483C07}" destId="{76B6E933-518F-4EA7-8B8A-D7DBEE28F8D4}" srcOrd="1" destOrd="0" presId="urn:microsoft.com/office/officeart/2008/layout/LinedList"/>
    <dgm:cxn modelId="{FCDBFEE4-1AA7-40A1-8EC3-BE8572B8A47D}" type="presParOf" srcId="{DFEE7950-F056-43C6-9D01-926A66C4BD25}" destId="{93480F17-2B34-4A40-8BF3-0DC7AF37716F}" srcOrd="18" destOrd="0" presId="urn:microsoft.com/office/officeart/2008/layout/LinedList"/>
    <dgm:cxn modelId="{4E062C34-60DA-4433-B4A5-7A98F7A8BB60}" type="presParOf" srcId="{DFEE7950-F056-43C6-9D01-926A66C4BD25}" destId="{6760FDC0-1572-428C-9013-39A651556393}" srcOrd="19" destOrd="0" presId="urn:microsoft.com/office/officeart/2008/layout/LinedList"/>
    <dgm:cxn modelId="{64D7FBEF-1891-4118-864F-4E0B19E35C62}" type="presParOf" srcId="{6760FDC0-1572-428C-9013-39A651556393}" destId="{0297BEB7-44A9-4D37-9C19-A86862B6E6E7}" srcOrd="0" destOrd="0" presId="urn:microsoft.com/office/officeart/2008/layout/LinedList"/>
    <dgm:cxn modelId="{AD6D0601-D490-431B-A3ED-5610856B326E}" type="presParOf" srcId="{6760FDC0-1572-428C-9013-39A651556393}" destId="{696CBF1A-B9E9-4B4D-9156-B6B4E594FA55}" srcOrd="1" destOrd="0" presId="urn:microsoft.com/office/officeart/2008/layout/LinedList"/>
    <dgm:cxn modelId="{C7D8DBF9-DDDC-4E9F-88E3-D0E33E17353D}" type="presParOf" srcId="{DFEE7950-F056-43C6-9D01-926A66C4BD25}" destId="{305ADC91-C0CB-416F-8468-531256D67351}" srcOrd="20" destOrd="0" presId="urn:microsoft.com/office/officeart/2008/layout/LinedList"/>
    <dgm:cxn modelId="{A60EFE6D-F8D8-475A-B3E4-DE8D1DFE6611}" type="presParOf" srcId="{DFEE7950-F056-43C6-9D01-926A66C4BD25}" destId="{7E95CD4E-CB54-480A-B9D7-089EAD7B5D43}" srcOrd="21" destOrd="0" presId="urn:microsoft.com/office/officeart/2008/layout/LinedList"/>
    <dgm:cxn modelId="{2198F3E9-A77A-452A-9B5F-7248798BE249}" type="presParOf" srcId="{7E95CD4E-CB54-480A-B9D7-089EAD7B5D43}" destId="{067863E4-1E95-45CA-93EC-FF22AF134DF0}" srcOrd="0" destOrd="0" presId="urn:microsoft.com/office/officeart/2008/layout/LinedList"/>
    <dgm:cxn modelId="{04E55C5D-814C-474A-B1DD-BAF8D2DE0352}" type="presParOf" srcId="{7E95CD4E-CB54-480A-B9D7-089EAD7B5D43}" destId="{B8C32551-C690-4B5F-8C67-31874B51EECE}" srcOrd="1" destOrd="0" presId="urn:microsoft.com/office/officeart/2008/layout/LinedList"/>
    <dgm:cxn modelId="{99C3C387-DD36-48B0-9005-601D8458C334}" type="presParOf" srcId="{DFEE7950-F056-43C6-9D01-926A66C4BD25}" destId="{265CB397-1083-42F9-A028-1C8EF5460C11}" srcOrd="22" destOrd="0" presId="urn:microsoft.com/office/officeart/2008/layout/LinedList"/>
    <dgm:cxn modelId="{5F85A30F-D1B6-4A8A-A1C8-078865E4E830}" type="presParOf" srcId="{DFEE7950-F056-43C6-9D01-926A66C4BD25}" destId="{263B513E-9C84-4958-8103-B0E546C7AED2}" srcOrd="23" destOrd="0" presId="urn:microsoft.com/office/officeart/2008/layout/LinedList"/>
    <dgm:cxn modelId="{4B4F2B3C-E494-4AB7-9D16-A6A3612576E8}" type="presParOf" srcId="{263B513E-9C84-4958-8103-B0E546C7AED2}" destId="{7CE40885-702B-434C-9260-AC70CA47B5F0}" srcOrd="0" destOrd="0" presId="urn:microsoft.com/office/officeart/2008/layout/LinedList"/>
    <dgm:cxn modelId="{CB27A67A-C85B-4812-8B5A-5286BDE122A5}" type="presParOf" srcId="{263B513E-9C84-4958-8103-B0E546C7AED2}" destId="{2D5996AD-EA75-433B-AD43-01B5D43FA5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CEAB6-5829-4D17-A9F3-18030CCB1FC5}">
      <dsp:nvSpPr>
        <dsp:cNvPr id="0" name=""/>
        <dsp:cNvSpPr/>
      </dsp:nvSpPr>
      <dsp:spPr>
        <a:xfrm>
          <a:off x="0" y="2390"/>
          <a:ext cx="6408738" cy="1211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4293EC-BC1B-4DEE-8ED8-779924BB2C99}">
      <dsp:nvSpPr>
        <dsp:cNvPr id="0" name=""/>
        <dsp:cNvSpPr/>
      </dsp:nvSpPr>
      <dsp:spPr>
        <a:xfrm>
          <a:off x="366481" y="274979"/>
          <a:ext cx="666330" cy="6663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5F461C-5473-4EB8-8FFE-2698AF5FE592}">
      <dsp:nvSpPr>
        <dsp:cNvPr id="0" name=""/>
        <dsp:cNvSpPr/>
      </dsp:nvSpPr>
      <dsp:spPr>
        <a:xfrm>
          <a:off x="1399293" y="2390"/>
          <a:ext cx="5009444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ML-Based Anomaly Detection</a:t>
          </a:r>
          <a:endParaRPr lang="en-US" sz="2200" kern="1200"/>
        </a:p>
      </dsp:txBody>
      <dsp:txXfrm>
        <a:off x="1399293" y="2390"/>
        <a:ext cx="5009444" cy="1211509"/>
      </dsp:txXfrm>
    </dsp:sp>
    <dsp:sp modelId="{386F2F72-A7AB-481C-81E4-61A11A340AEB}">
      <dsp:nvSpPr>
        <dsp:cNvPr id="0" name=""/>
        <dsp:cNvSpPr/>
      </dsp:nvSpPr>
      <dsp:spPr>
        <a:xfrm>
          <a:off x="0" y="1516777"/>
          <a:ext cx="6408738" cy="1211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FD1DC1-362C-440E-9065-D141310A4A1E}">
      <dsp:nvSpPr>
        <dsp:cNvPr id="0" name=""/>
        <dsp:cNvSpPr/>
      </dsp:nvSpPr>
      <dsp:spPr>
        <a:xfrm>
          <a:off x="366481" y="1789366"/>
          <a:ext cx="666330" cy="6663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962E5-0E3A-444C-94D2-88FF0B4880C4}">
      <dsp:nvSpPr>
        <dsp:cNvPr id="0" name=""/>
        <dsp:cNvSpPr/>
      </dsp:nvSpPr>
      <dsp:spPr>
        <a:xfrm>
          <a:off x="1399293" y="1516777"/>
          <a:ext cx="5009444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Expanded Endpoint Coverage</a:t>
          </a:r>
          <a:endParaRPr lang="en-US" sz="2200" kern="1200"/>
        </a:p>
      </dsp:txBody>
      <dsp:txXfrm>
        <a:off x="1399293" y="1516777"/>
        <a:ext cx="5009444" cy="1211509"/>
      </dsp:txXfrm>
    </dsp:sp>
    <dsp:sp modelId="{E8F8888E-3651-43D8-9F65-B3904E6EDC50}">
      <dsp:nvSpPr>
        <dsp:cNvPr id="0" name=""/>
        <dsp:cNvSpPr/>
      </dsp:nvSpPr>
      <dsp:spPr>
        <a:xfrm>
          <a:off x="0" y="3031163"/>
          <a:ext cx="6408738" cy="1211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0E4D1-81B5-4930-98A3-CCA4C484AE1C}">
      <dsp:nvSpPr>
        <dsp:cNvPr id="0" name=""/>
        <dsp:cNvSpPr/>
      </dsp:nvSpPr>
      <dsp:spPr>
        <a:xfrm>
          <a:off x="366481" y="3303753"/>
          <a:ext cx="666330" cy="6663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1DADA-7A92-4BC7-AA67-516DDBA73A25}">
      <dsp:nvSpPr>
        <dsp:cNvPr id="0" name=""/>
        <dsp:cNvSpPr/>
      </dsp:nvSpPr>
      <dsp:spPr>
        <a:xfrm>
          <a:off x="1399293" y="3031163"/>
          <a:ext cx="5009444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Deception Technology (Honeypots)</a:t>
          </a:r>
          <a:endParaRPr lang="en-US" sz="2200" kern="1200"/>
        </a:p>
      </dsp:txBody>
      <dsp:txXfrm>
        <a:off x="1399293" y="3031163"/>
        <a:ext cx="5009444" cy="1211509"/>
      </dsp:txXfrm>
    </dsp:sp>
    <dsp:sp modelId="{1E82798A-D33C-4019-B715-D89BE2421CB9}">
      <dsp:nvSpPr>
        <dsp:cNvPr id="0" name=""/>
        <dsp:cNvSpPr/>
      </dsp:nvSpPr>
      <dsp:spPr>
        <a:xfrm>
          <a:off x="0" y="4545550"/>
          <a:ext cx="6408738" cy="12115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04E773-6FD7-44E2-9AB6-E1C26595299E}">
      <dsp:nvSpPr>
        <dsp:cNvPr id="0" name=""/>
        <dsp:cNvSpPr/>
      </dsp:nvSpPr>
      <dsp:spPr>
        <a:xfrm>
          <a:off x="366481" y="4818139"/>
          <a:ext cx="666330" cy="6663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E3794-6AB0-425D-90EF-592EB6323C8F}">
      <dsp:nvSpPr>
        <dsp:cNvPr id="0" name=""/>
        <dsp:cNvSpPr/>
      </dsp:nvSpPr>
      <dsp:spPr>
        <a:xfrm>
          <a:off x="1399293" y="4545550"/>
          <a:ext cx="5009444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SOC Playbook Automation</a:t>
          </a:r>
          <a:endParaRPr lang="en-US" sz="2200" kern="1200"/>
        </a:p>
      </dsp:txBody>
      <dsp:txXfrm>
        <a:off x="1399293" y="4545550"/>
        <a:ext cx="5009444" cy="1211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AA6F7-D417-48E9-A05C-4EE3C80DC769}">
      <dsp:nvSpPr>
        <dsp:cNvPr id="0" name=""/>
        <dsp:cNvSpPr/>
      </dsp:nvSpPr>
      <dsp:spPr>
        <a:xfrm>
          <a:off x="0" y="4499"/>
          <a:ext cx="6408738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DA244-B110-4CD5-932A-CFC19CE4EE73}">
      <dsp:nvSpPr>
        <dsp:cNvPr id="0" name=""/>
        <dsp:cNvSpPr/>
      </dsp:nvSpPr>
      <dsp:spPr>
        <a:xfrm>
          <a:off x="289918" y="220141"/>
          <a:ext cx="527124" cy="5271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A98CC-A02A-44E1-B158-BA081C805D2D}">
      <dsp:nvSpPr>
        <dsp:cNvPr id="0" name=""/>
        <dsp:cNvSpPr/>
      </dsp:nvSpPr>
      <dsp:spPr>
        <a:xfrm>
          <a:off x="1106961" y="4499"/>
          <a:ext cx="5301776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All seven open-source tools were successfully integrated</a:t>
          </a:r>
          <a:r>
            <a:rPr lang="en-US" sz="1800" kern="1200"/>
            <a:t> into a seamless detect–enrich–respond pipeline</a:t>
          </a:r>
        </a:p>
      </dsp:txBody>
      <dsp:txXfrm>
        <a:off x="1106961" y="4499"/>
        <a:ext cx="5301776" cy="958408"/>
      </dsp:txXfrm>
    </dsp:sp>
    <dsp:sp modelId="{902605FC-2559-4594-BA95-3EDAF12F262A}">
      <dsp:nvSpPr>
        <dsp:cNvPr id="0" name=""/>
        <dsp:cNvSpPr/>
      </dsp:nvSpPr>
      <dsp:spPr>
        <a:xfrm>
          <a:off x="0" y="1202510"/>
          <a:ext cx="6408738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BD6E6-C38F-44EF-8E99-52A40483C77F}">
      <dsp:nvSpPr>
        <dsp:cNvPr id="0" name=""/>
        <dsp:cNvSpPr/>
      </dsp:nvSpPr>
      <dsp:spPr>
        <a:xfrm>
          <a:off x="289918" y="1418152"/>
          <a:ext cx="527124" cy="5271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36E45-2D77-4C14-ABC9-A24E5BA5DEA7}">
      <dsp:nvSpPr>
        <dsp:cNvPr id="0" name=""/>
        <dsp:cNvSpPr/>
      </dsp:nvSpPr>
      <dsp:spPr>
        <a:xfrm>
          <a:off x="1106961" y="1202510"/>
          <a:ext cx="5301776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MTTD was reduced to 6.5 seconds on average</a:t>
          </a:r>
          <a:r>
            <a:rPr lang="en-US" sz="1800" kern="1200"/>
            <a:t> — far below the 207-day industry average for unmonitored environments</a:t>
          </a:r>
        </a:p>
      </dsp:txBody>
      <dsp:txXfrm>
        <a:off x="1106961" y="1202510"/>
        <a:ext cx="5301776" cy="958408"/>
      </dsp:txXfrm>
    </dsp:sp>
    <dsp:sp modelId="{DE90442D-4506-429D-9983-993B0D481F72}">
      <dsp:nvSpPr>
        <dsp:cNvPr id="0" name=""/>
        <dsp:cNvSpPr/>
      </dsp:nvSpPr>
      <dsp:spPr>
        <a:xfrm>
          <a:off x="0" y="2400520"/>
          <a:ext cx="6408738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28AE60-2115-4B3D-8DDB-5B0EB41AC2A1}">
      <dsp:nvSpPr>
        <dsp:cNvPr id="0" name=""/>
        <dsp:cNvSpPr/>
      </dsp:nvSpPr>
      <dsp:spPr>
        <a:xfrm>
          <a:off x="289918" y="2616162"/>
          <a:ext cx="527124" cy="5271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9B817-CB92-4991-B15D-936ADFCDB5E6}">
      <dsp:nvSpPr>
        <dsp:cNvPr id="0" name=""/>
        <dsp:cNvSpPr/>
      </dsp:nvSpPr>
      <dsp:spPr>
        <a:xfrm>
          <a:off x="1106961" y="2400520"/>
          <a:ext cx="5301776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SOAR automation cut MTTR by over 90%</a:t>
          </a:r>
          <a:r>
            <a:rPr lang="en-US" sz="1800" kern="1200"/>
            <a:t> compared to baseline manual investigation workflows</a:t>
          </a:r>
        </a:p>
      </dsp:txBody>
      <dsp:txXfrm>
        <a:off x="1106961" y="2400520"/>
        <a:ext cx="5301776" cy="958408"/>
      </dsp:txXfrm>
    </dsp:sp>
    <dsp:sp modelId="{F0BB4EC6-C14A-42F0-B0A7-A6FDB3B47AC4}">
      <dsp:nvSpPr>
        <dsp:cNvPr id="0" name=""/>
        <dsp:cNvSpPr/>
      </dsp:nvSpPr>
      <dsp:spPr>
        <a:xfrm>
          <a:off x="0" y="3598531"/>
          <a:ext cx="6408738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5D9432-8C5B-409B-9A5B-E6DC7B60E3D4}">
      <dsp:nvSpPr>
        <dsp:cNvPr id="0" name=""/>
        <dsp:cNvSpPr/>
      </dsp:nvSpPr>
      <dsp:spPr>
        <a:xfrm>
          <a:off x="289918" y="3814173"/>
          <a:ext cx="527124" cy="5271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49FCF-6011-4086-9285-23DA1283713B}">
      <dsp:nvSpPr>
        <dsp:cNvPr id="0" name=""/>
        <dsp:cNvSpPr/>
      </dsp:nvSpPr>
      <dsp:spPr>
        <a:xfrm>
          <a:off x="1106961" y="3598531"/>
          <a:ext cx="5301776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The entire stack was deployed for $3,200</a:t>
          </a:r>
          <a:r>
            <a:rPr lang="en-US" sz="1800" kern="1200"/>
            <a:t> — less than 2% of the cost of comparable commercial platforms</a:t>
          </a:r>
        </a:p>
      </dsp:txBody>
      <dsp:txXfrm>
        <a:off x="1106961" y="3598531"/>
        <a:ext cx="5301776" cy="958408"/>
      </dsp:txXfrm>
    </dsp:sp>
    <dsp:sp modelId="{8315F469-1A7F-4C68-9A0A-8331097DE2F3}">
      <dsp:nvSpPr>
        <dsp:cNvPr id="0" name=""/>
        <dsp:cNvSpPr/>
      </dsp:nvSpPr>
      <dsp:spPr>
        <a:xfrm>
          <a:off x="0" y="4796541"/>
          <a:ext cx="6408738" cy="958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3C8DA-E580-4088-97D7-0B0E973D2D9D}">
      <dsp:nvSpPr>
        <dsp:cNvPr id="0" name=""/>
        <dsp:cNvSpPr/>
      </dsp:nvSpPr>
      <dsp:spPr>
        <a:xfrm>
          <a:off x="289918" y="5012183"/>
          <a:ext cx="527124" cy="5271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9DB28-49B7-44EF-8099-38F4209CDD50}">
      <dsp:nvSpPr>
        <dsp:cNvPr id="0" name=""/>
        <dsp:cNvSpPr/>
      </dsp:nvSpPr>
      <dsp:spPr>
        <a:xfrm>
          <a:off x="1106961" y="4796541"/>
          <a:ext cx="5301776" cy="95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32" tIns="101432" rIns="101432" bIns="10143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The framework is replicable and scalable</a:t>
          </a:r>
          <a:r>
            <a:rPr lang="en-US" sz="1800" kern="1200"/>
            <a:t> — suitable for SMEs, research labs, academic institutions, and SOC training environments</a:t>
          </a:r>
        </a:p>
      </dsp:txBody>
      <dsp:txXfrm>
        <a:off x="1106961" y="4796541"/>
        <a:ext cx="5301776" cy="9584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1C624-A239-423C-B925-02D5AD6D60AD}">
      <dsp:nvSpPr>
        <dsp:cNvPr id="0" name=""/>
        <dsp:cNvSpPr/>
      </dsp:nvSpPr>
      <dsp:spPr>
        <a:xfrm>
          <a:off x="0" y="2812"/>
          <a:ext cx="640873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E64BC-C6C3-4D8D-91DF-3ACBF965A415}">
      <dsp:nvSpPr>
        <dsp:cNvPr id="0" name=""/>
        <dsp:cNvSpPr/>
      </dsp:nvSpPr>
      <dsp:spPr>
        <a:xfrm>
          <a:off x="0" y="2812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IBM Security. (2023). </a:t>
          </a:r>
          <a:r>
            <a:rPr lang="en-US" sz="1300" i="1" kern="1200"/>
            <a:t>Cost of a Data Breach Report 2023.</a:t>
          </a:r>
          <a:r>
            <a:rPr lang="en-US" sz="1300" kern="1200"/>
            <a:t> IBM Corporation.</a:t>
          </a:r>
        </a:p>
      </dsp:txBody>
      <dsp:txXfrm>
        <a:off x="0" y="2812"/>
        <a:ext cx="6408738" cy="479485"/>
      </dsp:txXfrm>
    </dsp:sp>
    <dsp:sp modelId="{7124A958-A714-4C15-BAE5-C78935FBE612}">
      <dsp:nvSpPr>
        <dsp:cNvPr id="0" name=""/>
        <dsp:cNvSpPr/>
      </dsp:nvSpPr>
      <dsp:spPr>
        <a:xfrm>
          <a:off x="0" y="482297"/>
          <a:ext cx="6408738" cy="0"/>
        </a:xfrm>
        <a:prstGeom prst="line">
          <a:avLst/>
        </a:prstGeom>
        <a:solidFill>
          <a:schemeClr val="accent2">
            <a:hueOff val="-539709"/>
            <a:satOff val="0"/>
            <a:lumOff val="-2193"/>
            <a:alphaOff val="0"/>
          </a:schemeClr>
        </a:solidFill>
        <a:ln w="12700" cap="flat" cmpd="sng" algn="ctr">
          <a:solidFill>
            <a:schemeClr val="accent2">
              <a:hueOff val="-539709"/>
              <a:satOff val="0"/>
              <a:lumOff val="-21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F4789-69A0-4F34-85FD-171E7A364BEE}">
      <dsp:nvSpPr>
        <dsp:cNvPr id="0" name=""/>
        <dsp:cNvSpPr/>
      </dsp:nvSpPr>
      <dsp:spPr>
        <a:xfrm>
          <a:off x="0" y="482297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Ponemon Institute. (2022). </a:t>
          </a:r>
          <a:r>
            <a:rPr lang="en-US" sz="1300" i="1" kern="1200"/>
            <a:t>The State of SOC Performance.</a:t>
          </a:r>
          <a:r>
            <a:rPr lang="en-US" sz="1300" kern="1200"/>
            <a:t> Ponemon Institute LLC.</a:t>
          </a:r>
        </a:p>
      </dsp:txBody>
      <dsp:txXfrm>
        <a:off x="0" y="482297"/>
        <a:ext cx="6408738" cy="479485"/>
      </dsp:txXfrm>
    </dsp:sp>
    <dsp:sp modelId="{92ABAEEE-FF00-4CE7-ACF2-5FFE66C79C3E}">
      <dsp:nvSpPr>
        <dsp:cNvPr id="0" name=""/>
        <dsp:cNvSpPr/>
      </dsp:nvSpPr>
      <dsp:spPr>
        <a:xfrm>
          <a:off x="0" y="961783"/>
          <a:ext cx="6408738" cy="0"/>
        </a:xfrm>
        <a:prstGeom prst="line">
          <a:avLst/>
        </a:prstGeom>
        <a:solidFill>
          <a:schemeClr val="accent2">
            <a:hueOff val="-1079417"/>
            <a:satOff val="0"/>
            <a:lumOff val="-4385"/>
            <a:alphaOff val="0"/>
          </a:schemeClr>
        </a:solidFill>
        <a:ln w="12700" cap="flat" cmpd="sng" algn="ctr">
          <a:solidFill>
            <a:schemeClr val="accent2">
              <a:hueOff val="-1079417"/>
              <a:satOff val="0"/>
              <a:lumOff val="-4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3BE93-C391-4EE7-BE27-151B41970E42}">
      <dsp:nvSpPr>
        <dsp:cNvPr id="0" name=""/>
        <dsp:cNvSpPr/>
      </dsp:nvSpPr>
      <dsp:spPr>
        <a:xfrm>
          <a:off x="0" y="961783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Cybersecurity Ventures. (2023). </a:t>
          </a:r>
          <a:r>
            <a:rPr lang="en-US" sz="1300" i="1" kern="1200"/>
            <a:t>Cybercrime Report 2023.</a:t>
          </a:r>
          <a:r>
            <a:rPr lang="en-US" sz="1300" kern="1200"/>
            <a:t> Cybersecurity Ventures.</a:t>
          </a:r>
        </a:p>
      </dsp:txBody>
      <dsp:txXfrm>
        <a:off x="0" y="961783"/>
        <a:ext cx="6408738" cy="479485"/>
      </dsp:txXfrm>
    </dsp:sp>
    <dsp:sp modelId="{39676132-ED1B-46F8-82CA-02D8E12F5601}">
      <dsp:nvSpPr>
        <dsp:cNvPr id="0" name=""/>
        <dsp:cNvSpPr/>
      </dsp:nvSpPr>
      <dsp:spPr>
        <a:xfrm>
          <a:off x="0" y="1441268"/>
          <a:ext cx="6408738" cy="0"/>
        </a:xfrm>
        <a:prstGeom prst="line">
          <a:avLst/>
        </a:prstGeom>
        <a:solidFill>
          <a:schemeClr val="accent2">
            <a:hueOff val="-1619126"/>
            <a:satOff val="0"/>
            <a:lumOff val="-6578"/>
            <a:alphaOff val="0"/>
          </a:schemeClr>
        </a:solidFill>
        <a:ln w="12700" cap="flat" cmpd="sng" algn="ctr">
          <a:solidFill>
            <a:schemeClr val="accent2">
              <a:hueOff val="-1619126"/>
              <a:satOff val="0"/>
              <a:lumOff val="-65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2337A-F5C7-473A-9AA0-45AE029BCB20}">
      <dsp:nvSpPr>
        <dsp:cNvPr id="0" name=""/>
        <dsp:cNvSpPr/>
      </dsp:nvSpPr>
      <dsp:spPr>
        <a:xfrm>
          <a:off x="0" y="1441268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Wazuh Inc. (2024). </a:t>
          </a:r>
          <a:r>
            <a:rPr lang="en-US" sz="1300" i="1" kern="1200"/>
            <a:t>Wazuh Open Source Security Platform Documentation.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1"/>
            </a:rPr>
            <a:t>https://documentation.wazuh.com</a:t>
          </a:r>
          <a:endParaRPr lang="en-US" sz="1300" kern="1200"/>
        </a:p>
      </dsp:txBody>
      <dsp:txXfrm>
        <a:off x="0" y="1441268"/>
        <a:ext cx="6408738" cy="479485"/>
      </dsp:txXfrm>
    </dsp:sp>
    <dsp:sp modelId="{8CFA84E7-B042-45ED-9827-7269F9C83766}">
      <dsp:nvSpPr>
        <dsp:cNvPr id="0" name=""/>
        <dsp:cNvSpPr/>
      </dsp:nvSpPr>
      <dsp:spPr>
        <a:xfrm>
          <a:off x="0" y="1920754"/>
          <a:ext cx="6408738" cy="0"/>
        </a:xfrm>
        <a:prstGeom prst="line">
          <a:avLst/>
        </a:prstGeom>
        <a:solidFill>
          <a:schemeClr val="accent2">
            <a:hueOff val="-2158835"/>
            <a:satOff val="0"/>
            <a:lumOff val="-8770"/>
            <a:alphaOff val="0"/>
          </a:schemeClr>
        </a:solidFill>
        <a:ln w="12700" cap="flat" cmpd="sng" algn="ctr">
          <a:solidFill>
            <a:schemeClr val="accent2">
              <a:hueOff val="-2158835"/>
              <a:satOff val="0"/>
              <a:lumOff val="-87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91529-A87C-43E3-9BB4-E23A042D0DAC}">
      <dsp:nvSpPr>
        <dsp:cNvPr id="0" name=""/>
        <dsp:cNvSpPr/>
      </dsp:nvSpPr>
      <dsp:spPr>
        <a:xfrm>
          <a:off x="0" y="1920754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Shuffle Automation. (2024). </a:t>
          </a:r>
          <a:r>
            <a:rPr lang="en-US" sz="1300" i="1" kern="1200"/>
            <a:t>Shuffle SOAR Documentation.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2"/>
            </a:rPr>
            <a:t>https://shuffler.io/docs</a:t>
          </a:r>
          <a:endParaRPr lang="en-US" sz="1300" kern="1200"/>
        </a:p>
      </dsp:txBody>
      <dsp:txXfrm>
        <a:off x="0" y="1920754"/>
        <a:ext cx="6408738" cy="479485"/>
      </dsp:txXfrm>
    </dsp:sp>
    <dsp:sp modelId="{952C4A96-31AC-4C5B-A3D8-7BC40DDC57D0}">
      <dsp:nvSpPr>
        <dsp:cNvPr id="0" name=""/>
        <dsp:cNvSpPr/>
      </dsp:nvSpPr>
      <dsp:spPr>
        <a:xfrm>
          <a:off x="0" y="2400239"/>
          <a:ext cx="6408738" cy="0"/>
        </a:xfrm>
        <a:prstGeom prst="line">
          <a:avLst/>
        </a:prstGeom>
        <a:solidFill>
          <a:schemeClr val="accent2">
            <a:hueOff val="-2698543"/>
            <a:satOff val="0"/>
            <a:lumOff val="-10963"/>
            <a:alphaOff val="0"/>
          </a:schemeClr>
        </a:solidFill>
        <a:ln w="12700" cap="flat" cmpd="sng" algn="ctr">
          <a:solidFill>
            <a:schemeClr val="accent2">
              <a:hueOff val="-2698543"/>
              <a:satOff val="0"/>
              <a:lumOff val="-109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6C9B9-0DCA-4460-B7E7-DE50F195A4F5}">
      <dsp:nvSpPr>
        <dsp:cNvPr id="0" name=""/>
        <dsp:cNvSpPr/>
      </dsp:nvSpPr>
      <dsp:spPr>
        <a:xfrm>
          <a:off x="0" y="2400239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TheHive Project. (2024). </a:t>
          </a:r>
          <a:r>
            <a:rPr lang="en-US" sz="1300" i="1" kern="1200"/>
            <a:t>TheHive Documentation.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3"/>
            </a:rPr>
            <a:t>https://docs.strangebee.com/thehive</a:t>
          </a:r>
          <a:endParaRPr lang="en-US" sz="1300" kern="1200"/>
        </a:p>
      </dsp:txBody>
      <dsp:txXfrm>
        <a:off x="0" y="2400239"/>
        <a:ext cx="6408738" cy="479485"/>
      </dsp:txXfrm>
    </dsp:sp>
    <dsp:sp modelId="{B4D02E75-67F7-427B-AE34-3ADECE69A717}">
      <dsp:nvSpPr>
        <dsp:cNvPr id="0" name=""/>
        <dsp:cNvSpPr/>
      </dsp:nvSpPr>
      <dsp:spPr>
        <a:xfrm>
          <a:off x="0" y="2879725"/>
          <a:ext cx="6408738" cy="0"/>
        </a:xfrm>
        <a:prstGeom prst="line">
          <a:avLst/>
        </a:prstGeom>
        <a:solidFill>
          <a:schemeClr val="accent2">
            <a:hueOff val="-3238252"/>
            <a:satOff val="0"/>
            <a:lumOff val="-13155"/>
            <a:alphaOff val="0"/>
          </a:schemeClr>
        </a:solidFill>
        <a:ln w="12700" cap="flat" cmpd="sng" algn="ctr">
          <a:solidFill>
            <a:schemeClr val="accent2">
              <a:hueOff val="-3238252"/>
              <a:satOff val="0"/>
              <a:lumOff val="-131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81300-13E7-440B-83A7-54AFC58E0895}">
      <dsp:nvSpPr>
        <dsp:cNvPr id="0" name=""/>
        <dsp:cNvSpPr/>
      </dsp:nvSpPr>
      <dsp:spPr>
        <a:xfrm>
          <a:off x="0" y="2879724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MISP Project. (2024). </a:t>
          </a:r>
          <a:r>
            <a:rPr lang="en-US" sz="1300" i="1" kern="1200"/>
            <a:t>MISP Threat Sharing Platform Documentation.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4"/>
            </a:rPr>
            <a:t>https://www.misp-project.org</a:t>
          </a:r>
          <a:endParaRPr lang="en-US" sz="1300" kern="1200"/>
        </a:p>
      </dsp:txBody>
      <dsp:txXfrm>
        <a:off x="0" y="2879724"/>
        <a:ext cx="6408738" cy="479485"/>
      </dsp:txXfrm>
    </dsp:sp>
    <dsp:sp modelId="{29196278-73A8-42E9-9A91-5E9FA1AF9CCA}">
      <dsp:nvSpPr>
        <dsp:cNvPr id="0" name=""/>
        <dsp:cNvSpPr/>
      </dsp:nvSpPr>
      <dsp:spPr>
        <a:xfrm>
          <a:off x="0" y="3359210"/>
          <a:ext cx="6408738" cy="0"/>
        </a:xfrm>
        <a:prstGeom prst="line">
          <a:avLst/>
        </a:prstGeom>
        <a:solidFill>
          <a:schemeClr val="accent2">
            <a:hueOff val="-3777960"/>
            <a:satOff val="0"/>
            <a:lumOff val="-15348"/>
            <a:alphaOff val="0"/>
          </a:schemeClr>
        </a:solidFill>
        <a:ln w="12700" cap="flat" cmpd="sng" algn="ctr">
          <a:solidFill>
            <a:schemeClr val="accent2">
              <a:hueOff val="-3777960"/>
              <a:satOff val="0"/>
              <a:lumOff val="-153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87992-5290-489F-B0AD-B1C756DF75BD}">
      <dsp:nvSpPr>
        <dsp:cNvPr id="0" name=""/>
        <dsp:cNvSpPr/>
      </dsp:nvSpPr>
      <dsp:spPr>
        <a:xfrm>
          <a:off x="0" y="3359210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Suricata. (2024). </a:t>
          </a:r>
          <a:r>
            <a:rPr lang="en-US" sz="1300" i="1" kern="1200"/>
            <a:t>Suricata IDS/IPS Documentation.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5"/>
            </a:rPr>
            <a:t>https://suricata.io/documentation</a:t>
          </a:r>
          <a:endParaRPr lang="en-US" sz="1300" kern="1200"/>
        </a:p>
      </dsp:txBody>
      <dsp:txXfrm>
        <a:off x="0" y="3359210"/>
        <a:ext cx="6408738" cy="479485"/>
      </dsp:txXfrm>
    </dsp:sp>
    <dsp:sp modelId="{C12A262D-67FA-4880-BC29-2E402DD0914A}">
      <dsp:nvSpPr>
        <dsp:cNvPr id="0" name=""/>
        <dsp:cNvSpPr/>
      </dsp:nvSpPr>
      <dsp:spPr>
        <a:xfrm>
          <a:off x="0" y="3838695"/>
          <a:ext cx="6408738" cy="0"/>
        </a:xfrm>
        <a:prstGeom prst="line">
          <a:avLst/>
        </a:prstGeom>
        <a:solidFill>
          <a:schemeClr val="accent2">
            <a:hueOff val="-4317669"/>
            <a:satOff val="0"/>
            <a:lumOff val="-17540"/>
            <a:alphaOff val="0"/>
          </a:schemeClr>
        </a:solidFill>
        <a:ln w="12700" cap="flat" cmpd="sng" algn="ctr">
          <a:solidFill>
            <a:schemeClr val="accent2">
              <a:hueOff val="-4317669"/>
              <a:satOff val="0"/>
              <a:lumOff val="-175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4EF8F-665A-47BE-85AF-DDD4019D959A}">
      <dsp:nvSpPr>
        <dsp:cNvPr id="0" name=""/>
        <dsp:cNvSpPr/>
      </dsp:nvSpPr>
      <dsp:spPr>
        <a:xfrm>
          <a:off x="0" y="3838695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pfSense. (2024). </a:t>
          </a:r>
          <a:r>
            <a:rPr lang="en-US" sz="1300" i="1" kern="1200"/>
            <a:t>pfSense Firewall Documentation.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6"/>
            </a:rPr>
            <a:t>https://docs.netgate.com/pfsense</a:t>
          </a:r>
          <a:endParaRPr lang="en-US" sz="1300" kern="1200"/>
        </a:p>
      </dsp:txBody>
      <dsp:txXfrm>
        <a:off x="0" y="3838695"/>
        <a:ext cx="6408738" cy="479485"/>
      </dsp:txXfrm>
    </dsp:sp>
    <dsp:sp modelId="{93480F17-2B34-4A40-8BF3-0DC7AF37716F}">
      <dsp:nvSpPr>
        <dsp:cNvPr id="0" name=""/>
        <dsp:cNvSpPr/>
      </dsp:nvSpPr>
      <dsp:spPr>
        <a:xfrm>
          <a:off x="0" y="4318181"/>
          <a:ext cx="6408738" cy="0"/>
        </a:xfrm>
        <a:prstGeom prst="line">
          <a:avLst/>
        </a:prstGeom>
        <a:solidFill>
          <a:schemeClr val="accent2">
            <a:hueOff val="-4857377"/>
            <a:satOff val="0"/>
            <a:lumOff val="-19733"/>
            <a:alphaOff val="0"/>
          </a:schemeClr>
        </a:solidFill>
        <a:ln w="12700" cap="flat" cmpd="sng" algn="ctr">
          <a:solidFill>
            <a:schemeClr val="accent2">
              <a:hueOff val="-4857377"/>
              <a:satOff val="0"/>
              <a:lumOff val="-197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7BEB7-44A9-4D37-9C19-A86862B6E6E7}">
      <dsp:nvSpPr>
        <dsp:cNvPr id="0" name=""/>
        <dsp:cNvSpPr/>
      </dsp:nvSpPr>
      <dsp:spPr>
        <a:xfrm>
          <a:off x="0" y="4318181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MITRE Corporation. (2024). </a:t>
          </a:r>
          <a:r>
            <a:rPr lang="en-US" sz="1300" i="1" kern="1200"/>
            <a:t>MITRE ATT&amp;CK Framework.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7"/>
            </a:rPr>
            <a:t>https://attack.mitre.org</a:t>
          </a:r>
          <a:endParaRPr lang="en-US" sz="1300" kern="1200"/>
        </a:p>
      </dsp:txBody>
      <dsp:txXfrm>
        <a:off x="0" y="4318181"/>
        <a:ext cx="6408738" cy="479485"/>
      </dsp:txXfrm>
    </dsp:sp>
    <dsp:sp modelId="{305ADC91-C0CB-416F-8468-531256D67351}">
      <dsp:nvSpPr>
        <dsp:cNvPr id="0" name=""/>
        <dsp:cNvSpPr/>
      </dsp:nvSpPr>
      <dsp:spPr>
        <a:xfrm>
          <a:off x="0" y="4797666"/>
          <a:ext cx="6408738" cy="0"/>
        </a:xfrm>
        <a:prstGeom prst="line">
          <a:avLst/>
        </a:prstGeom>
        <a:solidFill>
          <a:schemeClr val="accent2">
            <a:hueOff val="-5397086"/>
            <a:satOff val="0"/>
            <a:lumOff val="-21925"/>
            <a:alphaOff val="0"/>
          </a:schemeClr>
        </a:solidFill>
        <a:ln w="12700" cap="flat" cmpd="sng" algn="ctr">
          <a:solidFill>
            <a:schemeClr val="accent2">
              <a:hueOff val="-5397086"/>
              <a:satOff val="0"/>
              <a:lumOff val="-219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863E4-1E95-45CA-93EC-FF22AF134DF0}">
      <dsp:nvSpPr>
        <dsp:cNvPr id="0" name=""/>
        <dsp:cNvSpPr/>
      </dsp:nvSpPr>
      <dsp:spPr>
        <a:xfrm>
          <a:off x="0" y="4797666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AlienVault OTX. (2024). </a:t>
          </a:r>
          <a:r>
            <a:rPr lang="en-US" sz="1300" i="1" kern="1200"/>
            <a:t>Open Threat Exchange.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8"/>
            </a:rPr>
            <a:t>https://otx.alienvault.com</a:t>
          </a:r>
          <a:endParaRPr lang="en-US" sz="1300" kern="1200"/>
        </a:p>
      </dsp:txBody>
      <dsp:txXfrm>
        <a:off x="0" y="4797666"/>
        <a:ext cx="6408738" cy="479485"/>
      </dsp:txXfrm>
    </dsp:sp>
    <dsp:sp modelId="{265CB397-1083-42F9-A028-1C8EF5460C11}">
      <dsp:nvSpPr>
        <dsp:cNvPr id="0" name=""/>
        <dsp:cNvSpPr/>
      </dsp:nvSpPr>
      <dsp:spPr>
        <a:xfrm>
          <a:off x="0" y="5277152"/>
          <a:ext cx="6408738" cy="0"/>
        </a:xfrm>
        <a:prstGeom prst="line">
          <a:avLst/>
        </a:prstGeom>
        <a:solidFill>
          <a:schemeClr val="accent2">
            <a:hueOff val="-5936795"/>
            <a:satOff val="0"/>
            <a:lumOff val="-24118"/>
            <a:alphaOff val="0"/>
          </a:schemeClr>
        </a:solidFill>
        <a:ln w="12700" cap="flat" cmpd="sng" algn="ctr">
          <a:solidFill>
            <a:schemeClr val="accent2">
              <a:hueOff val="-5936795"/>
              <a:satOff val="0"/>
              <a:lumOff val="-2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40885-702B-434C-9260-AC70CA47B5F0}">
      <dsp:nvSpPr>
        <dsp:cNvPr id="0" name=""/>
        <dsp:cNvSpPr/>
      </dsp:nvSpPr>
      <dsp:spPr>
        <a:xfrm>
          <a:off x="0" y="5277152"/>
          <a:ext cx="6408738" cy="47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VirusTotal. (2024). </a:t>
          </a:r>
          <a:r>
            <a:rPr lang="en-US" sz="1300" i="1" kern="1200"/>
            <a:t>VirusTotal Documentation.</a:t>
          </a:r>
          <a:r>
            <a:rPr lang="en-US" sz="1300" kern="1200"/>
            <a:t> </a:t>
          </a:r>
          <a:r>
            <a:rPr lang="en-US" sz="1300" kern="1200">
              <a:hlinkClick xmlns:r="http://schemas.openxmlformats.org/officeDocument/2006/relationships" r:id="rId9"/>
            </a:rPr>
            <a:t>https://developers.virustotal.com</a:t>
          </a:r>
          <a:endParaRPr lang="en-US" sz="1300" kern="1200"/>
        </a:p>
      </dsp:txBody>
      <dsp:txXfrm>
        <a:off x="0" y="5277152"/>
        <a:ext cx="6408738" cy="479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8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36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27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2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5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6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7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2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7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3/31/2026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568873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53200" y="1653692"/>
            <a:ext cx="4317388" cy="3556430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US" sz="4800" b="1">
                <a:latin typeface="Corbel"/>
              </a:rPr>
              <a:t>Integration of Open-SourceSecurity Tools for a Unified SOC Framework </a:t>
            </a:r>
            <a:endParaRPr lang="en-US" sz="4800">
              <a:latin typeface="Corbel"/>
            </a:endParaRPr>
          </a:p>
          <a:p>
            <a:pPr>
              <a:spcBef>
                <a:spcPts val="0"/>
              </a:spcBef>
            </a:pPr>
            <a:endParaRPr lang="en-US" sz="4800">
              <a:latin typeface="Corbel"/>
            </a:endParaRPr>
          </a:p>
          <a:p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53200" y="4988476"/>
            <a:ext cx="4500561" cy="132024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>
                <a:latin typeface="Corbel"/>
              </a:rPr>
              <a:t>Sujal Lamichhane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>
                <a:latin typeface="Corbel"/>
              </a:rPr>
              <a:t>Ujjwal Kandel 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>
                <a:latin typeface="Corbel"/>
              </a:rPr>
              <a:t>Rupesh Mahato</a:t>
            </a: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B7AF231-444C-44D0-B791-BAFE395E3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1" y="3600"/>
            <a:ext cx="7266875" cy="6854400"/>
            <a:chOff x="4925125" y="3600"/>
            <a:chExt cx="7266875" cy="68544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152793A-5125-41FA-AEF6-96C5463D0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3C1632F-098D-4A05-B248-04B7ABFE0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A85C0F5-DDEB-454E-A0E4-B6F0FB4CA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black background with blue hexagons&#10;&#10;AI-generated content may be incorrect.">
            <a:extLst>
              <a:ext uri="{FF2B5EF4-FFF2-40B4-BE49-F238E27FC236}">
                <a16:creationId xmlns:a16="http://schemas.microsoft.com/office/drawing/2014/main" id="{4474D344-4852-5425-8BA4-37C70E4F6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00" r="-1" b="-1"/>
          <a:stretch>
            <a:fillRect/>
          </a:stretch>
        </p:blipFill>
        <p:spPr>
          <a:xfrm>
            <a:off x="20" y="-1"/>
            <a:ext cx="685798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  <p:pic>
        <p:nvPicPr>
          <p:cNvPr id="23" name="Picture 22" descr="A logo with blue and orange letters&#10;&#10;AI-generated content may be incorrect.">
            <a:extLst>
              <a:ext uri="{FF2B5EF4-FFF2-40B4-BE49-F238E27FC236}">
                <a16:creationId xmlns:a16="http://schemas.microsoft.com/office/drawing/2014/main" id="{30F88DF5-4490-F1BD-59B8-39F5E233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275" y="2645103"/>
            <a:ext cx="2003108" cy="112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609C-DBFB-E7EE-D908-0785DDEF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The Rising Threat Landscape Demands a Smarter SOC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407F9-EF83-9F08-6E93-D4C3E6EF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3052762"/>
            <a:ext cx="11110661" cy="38084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>
                <a:ea typeface="+mn-lt"/>
                <a:cs typeface="+mn-lt"/>
              </a:rPr>
              <a:t>Global cybercrime costs projected to reach </a:t>
            </a:r>
            <a:r>
              <a:rPr lang="en-US" b="1">
                <a:ea typeface="+mn-lt"/>
                <a:cs typeface="+mn-lt"/>
              </a:rPr>
              <a:t>$10.5 trillion annually by 2025</a:t>
            </a:r>
            <a:r>
              <a:rPr lang="en-US">
                <a:ea typeface="+mn-lt"/>
                <a:cs typeface="+mn-lt"/>
              </a:rPr>
              <a:t> (Cybersecurity Ventures)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Average time to detect a breach: </a:t>
            </a:r>
            <a:r>
              <a:rPr lang="en-US" b="1">
                <a:ea typeface="+mn-lt"/>
                <a:cs typeface="+mn-lt"/>
              </a:rPr>
              <a:t>207 days</a:t>
            </a:r>
            <a:r>
              <a:rPr lang="en-US">
                <a:ea typeface="+mn-lt"/>
                <a:cs typeface="+mn-lt"/>
              </a:rPr>
              <a:t> (IBM Cost of a Data Breach Report, 2023)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Only </a:t>
            </a:r>
            <a:r>
              <a:rPr lang="en-US" b="1">
                <a:ea typeface="+mn-lt"/>
                <a:cs typeface="+mn-lt"/>
              </a:rPr>
              <a:t>35%</a:t>
            </a:r>
            <a:r>
              <a:rPr lang="en-US">
                <a:ea typeface="+mn-lt"/>
                <a:cs typeface="+mn-lt"/>
              </a:rPr>
              <a:t> of SMEs have a dedicated security operations function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Enterprise-grade SIEM/SOAR tools cost </a:t>
            </a:r>
            <a:r>
              <a:rPr lang="en-US" b="1">
                <a:ea typeface="+mn-lt"/>
                <a:cs typeface="+mn-lt"/>
              </a:rPr>
              <a:t>$50,000–$200,000+</a:t>
            </a:r>
            <a:r>
              <a:rPr lang="en-US">
                <a:ea typeface="+mn-lt"/>
                <a:cs typeface="+mn-lt"/>
              </a:rPr>
              <a:t> per year — out of reach for most organizations</a:t>
            </a:r>
            <a:endParaRPr lang="en-US"/>
          </a:p>
          <a:p>
            <a:pPr marL="269875" indent="-26987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2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9DD8-2AEA-E13D-33E2-8DCA55CE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Three Critical Gaps Prevent Effective SOC Operations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ED5A4A-407C-707C-6E7E-5B485BE0F4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176567"/>
              </p:ext>
            </p:extLst>
          </p:nvPr>
        </p:nvGraphicFramePr>
        <p:xfrm>
          <a:off x="539750" y="2528888"/>
          <a:ext cx="11201438" cy="3685911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5600719">
                  <a:extLst>
                    <a:ext uri="{9D8B030D-6E8A-4147-A177-3AD203B41FA5}">
                      <a16:colId xmlns:a16="http://schemas.microsoft.com/office/drawing/2014/main" val="2911897724"/>
                    </a:ext>
                  </a:extLst>
                </a:gridCol>
                <a:gridCol w="5600719">
                  <a:extLst>
                    <a:ext uri="{9D8B030D-6E8A-4147-A177-3AD203B41FA5}">
                      <a16:colId xmlns:a16="http://schemas.microsoft.com/office/drawing/2014/main" val="2584123410"/>
                    </a:ext>
                  </a:extLst>
                </a:gridCol>
              </a:tblGrid>
              <a:tr h="58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553590"/>
                  </a:ext>
                </a:extLst>
              </a:tr>
              <a:tr h="1032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Alert Fatigue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Analysts miss critical threats buried in thousands of low-priority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412724"/>
                  </a:ext>
                </a:extLst>
              </a:tr>
              <a:tr h="1032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Slow Incident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Manual investigation increases Mean Time to Respond (MTTR)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170688"/>
                  </a:ext>
                </a:extLst>
              </a:tr>
              <a:tr h="1032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High Cost of Enterprise SOC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SMEs cannot afford commercial SIEM/SOAR platforms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365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83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A10581-08F2-4D9E-8CB4-07ECFEE9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E2092A-4250-4BDD-AC6C-CA57E30D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266875" cy="6858000"/>
            <a:chOff x="0" y="0"/>
            <a:chExt cx="7266875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1EE7D2-EB27-4C6C-8E54-CBCDDCA17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600"/>
              <a:ext cx="7266875" cy="6854400"/>
            </a:xfrm>
            <a:custGeom>
              <a:avLst/>
              <a:gdLst>
                <a:gd name="connsiteX0" fmla="*/ 3839675 w 7266875"/>
                <a:gd name="connsiteY0" fmla="*/ 0 h 6854400"/>
                <a:gd name="connsiteX1" fmla="*/ 7266875 w 7266875"/>
                <a:gd name="connsiteY1" fmla="*/ 3427200 h 6854400"/>
                <a:gd name="connsiteX2" fmla="*/ 3839675 w 7266875"/>
                <a:gd name="connsiteY2" fmla="*/ 6854400 h 6854400"/>
                <a:gd name="connsiteX3" fmla="*/ 3489264 w 7266875"/>
                <a:gd name="connsiteY3" fmla="*/ 6836706 h 6854400"/>
                <a:gd name="connsiteX4" fmla="*/ 3327588 w 7266875"/>
                <a:gd name="connsiteY4" fmla="*/ 6816161 h 6854400"/>
                <a:gd name="connsiteX5" fmla="*/ 3174464 w 7266875"/>
                <a:gd name="connsiteY5" fmla="*/ 6839531 h 6854400"/>
                <a:gd name="connsiteX6" fmla="*/ 2880000 w 7266875"/>
                <a:gd name="connsiteY6" fmla="*/ 6854400 h 6854400"/>
                <a:gd name="connsiteX7" fmla="*/ 0 w 7266875"/>
                <a:gd name="connsiteY7" fmla="*/ 3974400 h 6854400"/>
                <a:gd name="connsiteX8" fmla="*/ 226325 w 7266875"/>
                <a:gd name="connsiteY8" fmla="*/ 2853374 h 6854400"/>
                <a:gd name="connsiteX9" fmla="*/ 258015 w 7266875"/>
                <a:gd name="connsiteY9" fmla="*/ 2787590 h 6854400"/>
                <a:gd name="connsiteX10" fmla="*/ 224445 w 7266875"/>
                <a:gd name="connsiteY10" fmla="*/ 2657030 h 6854400"/>
                <a:gd name="connsiteX11" fmla="*/ 180561 w 7266875"/>
                <a:gd name="connsiteY11" fmla="*/ 2221714 h 6854400"/>
                <a:gd name="connsiteX12" fmla="*/ 2340561 w 7266875"/>
                <a:gd name="connsiteY12" fmla="*/ 61714 h 6854400"/>
                <a:gd name="connsiteX13" fmla="*/ 2828370 w 7266875"/>
                <a:gd name="connsiteY13" fmla="*/ 117025 h 6854400"/>
                <a:gd name="connsiteX14" fmla="*/ 2891183 w 7266875"/>
                <a:gd name="connsiteY14" fmla="*/ 134017 h 6854400"/>
                <a:gd name="connsiteX15" fmla="*/ 2983165 w 7266875"/>
                <a:gd name="connsiteY15" fmla="*/ 107897 h 6854400"/>
                <a:gd name="connsiteX16" fmla="*/ 3839675 w 7266875"/>
                <a:gd name="connsiteY16" fmla="*/ 0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6875" h="6854400">
                  <a:moveTo>
                    <a:pt x="3839675" y="0"/>
                  </a:moveTo>
                  <a:cubicBezTo>
                    <a:pt x="5732465" y="0"/>
                    <a:pt x="7266875" y="1534410"/>
                    <a:pt x="7266875" y="3427200"/>
                  </a:cubicBezTo>
                  <a:cubicBezTo>
                    <a:pt x="7266875" y="5319990"/>
                    <a:pt x="5732465" y="6854400"/>
                    <a:pt x="3839675" y="6854400"/>
                  </a:cubicBezTo>
                  <a:cubicBezTo>
                    <a:pt x="3721376" y="6854400"/>
                    <a:pt x="3604476" y="6848406"/>
                    <a:pt x="3489264" y="6836706"/>
                  </a:cubicBezTo>
                  <a:lnTo>
                    <a:pt x="3327588" y="6816161"/>
                  </a:lnTo>
                  <a:lnTo>
                    <a:pt x="3174464" y="6839531"/>
                  </a:lnTo>
                  <a:cubicBezTo>
                    <a:pt x="3077646" y="6849363"/>
                    <a:pt x="2979412" y="6854400"/>
                    <a:pt x="2880000" y="6854400"/>
                  </a:cubicBezTo>
                  <a:cubicBezTo>
                    <a:pt x="1289420" y="6854400"/>
                    <a:pt x="0" y="5564980"/>
                    <a:pt x="0" y="3974400"/>
                  </a:cubicBezTo>
                  <a:cubicBezTo>
                    <a:pt x="0" y="3576755"/>
                    <a:pt x="80589" y="3197933"/>
                    <a:pt x="226325" y="2853374"/>
                  </a:cubicBezTo>
                  <a:lnTo>
                    <a:pt x="258015" y="2787590"/>
                  </a:lnTo>
                  <a:lnTo>
                    <a:pt x="224445" y="2657030"/>
                  </a:lnTo>
                  <a:cubicBezTo>
                    <a:pt x="195672" y="2516419"/>
                    <a:pt x="180561" y="2370831"/>
                    <a:pt x="180561" y="2221714"/>
                  </a:cubicBezTo>
                  <a:cubicBezTo>
                    <a:pt x="180561" y="1028779"/>
                    <a:pt x="1147626" y="61714"/>
                    <a:pt x="2340561" y="61714"/>
                  </a:cubicBezTo>
                  <a:cubicBezTo>
                    <a:pt x="2508318" y="61714"/>
                    <a:pt x="2671608" y="80838"/>
                    <a:pt x="2828370" y="117025"/>
                  </a:cubicBezTo>
                  <a:lnTo>
                    <a:pt x="2891183" y="134017"/>
                  </a:lnTo>
                  <a:lnTo>
                    <a:pt x="2983165" y="107897"/>
                  </a:lnTo>
                  <a:cubicBezTo>
                    <a:pt x="3256928" y="37461"/>
                    <a:pt x="3543927" y="0"/>
                    <a:pt x="3839675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3CF8FD-0917-4279-B6E7-120EE392F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94400"/>
              <a:ext cx="5760000" cy="576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A3FA15-CF3D-4F2B-BB5C-18E5DB305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0561" y="61714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76AED5-83E6-4A3D-B609-7CCABAD4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75" y="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EEE82A-2029-8D89-AF13-8A7C147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833015"/>
            <a:ext cx="5958000" cy="5202026"/>
          </a:xfrm>
        </p:spPr>
        <p:txBody>
          <a:bodyPr anchor="ctr">
            <a:normAutofit/>
          </a:bodyPr>
          <a:lstStyle/>
          <a:p>
            <a:pPr algn="ctr"/>
            <a:r>
              <a:rPr lang="en-US" sz="5500">
                <a:ea typeface="+mj-lt"/>
                <a:cs typeface="+mj-lt"/>
              </a:rPr>
              <a:t>Can open-source tools, properly integrated, deliver enterprise-grade SOC capability at minimal cost?</a:t>
            </a:r>
            <a:endParaRPr lang="en-US" sz="5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AD76-2A22-3B74-41B9-173A95A1A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2" y="540347"/>
            <a:ext cx="4537075" cy="576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69875" indent="-269875"/>
            <a:r>
              <a:rPr lang="en-US">
                <a:ea typeface="+mn-lt"/>
                <a:cs typeface="+mn-lt"/>
              </a:rPr>
              <a:t>Is it feasible to build a unified, automated Security Operations Center using exclusively open-source tools — achieving measurable improvements in MTTD and MTTR — while remaining cost-effective for small and medium-sized organizations?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44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2F86-0A5B-6321-3AD4-12369E9E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Four Measurable Objectives Guide This Project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7DAFC-13A7-0066-3F35-E56935A69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/>
              <a:t>Objectives:</a:t>
            </a:r>
            <a:endParaRPr lang="en-US" sz="2000"/>
          </a:p>
          <a:p>
            <a:pPr marL="269875" indent="-269875"/>
            <a:r>
              <a:rPr lang="en-US" b="1">
                <a:ea typeface="+mn-lt"/>
                <a:cs typeface="+mn-lt"/>
              </a:rPr>
              <a:t>Reduce MTTD &amp; MTTR</a:t>
            </a:r>
            <a:r>
              <a:rPr lang="en-US">
                <a:ea typeface="+mn-lt"/>
                <a:cs typeface="+mn-lt"/>
              </a:rPr>
              <a:t> — Achieve measurable reduction in detection and response time through automation</a:t>
            </a:r>
            <a:endParaRPr lang="en-US"/>
          </a:p>
          <a:p>
            <a:pPr marL="269875" indent="-269875"/>
            <a:r>
              <a:rPr lang="en-US" b="1">
                <a:ea typeface="+mn-lt"/>
                <a:cs typeface="+mn-lt"/>
              </a:rPr>
              <a:t>Unify Security Tooling</a:t>
            </a:r>
            <a:r>
              <a:rPr lang="en-US">
                <a:ea typeface="+mn-lt"/>
                <a:cs typeface="+mn-lt"/>
              </a:rPr>
              <a:t> — Integrate dashboards, logs, threat intelligence, and workflows into a single operational view</a:t>
            </a:r>
            <a:endParaRPr lang="en-US"/>
          </a:p>
          <a:p>
            <a:pPr marL="269875" indent="-269875"/>
            <a:r>
              <a:rPr lang="en-US" b="1">
                <a:ea typeface="+mn-lt"/>
                <a:cs typeface="+mn-lt"/>
              </a:rPr>
              <a:t>Automate Incident Response</a:t>
            </a:r>
            <a:r>
              <a:rPr lang="en-US">
                <a:ea typeface="+mn-lt"/>
                <a:cs typeface="+mn-lt"/>
              </a:rPr>
              <a:t> — Use SOAR (Shuffle) and </a:t>
            </a:r>
            <a:r>
              <a:rPr lang="en-US" err="1">
                <a:ea typeface="+mn-lt"/>
                <a:cs typeface="+mn-lt"/>
              </a:rPr>
              <a:t>TheHive</a:t>
            </a:r>
            <a:r>
              <a:rPr lang="en-US">
                <a:ea typeface="+mn-lt"/>
                <a:cs typeface="+mn-lt"/>
              </a:rPr>
              <a:t>–Cortex to eliminate repetitive manual tasks</a:t>
            </a:r>
            <a:endParaRPr lang="en-US"/>
          </a:p>
          <a:p>
            <a:pPr marL="269875" indent="-26987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CF247-2519-A78C-731F-4C84E9C4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9276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The System Architecture Integrates All Components Into a Single Pipeline</a:t>
            </a:r>
          </a:p>
        </p:txBody>
      </p:sp>
      <p:pic>
        <p:nvPicPr>
          <p:cNvPr id="3" name="Content Placeholder 2" descr="A diagram of a company&#10;&#10;AI-generated content may be incorrect.">
            <a:extLst>
              <a:ext uri="{FF2B5EF4-FFF2-40B4-BE49-F238E27FC236}">
                <a16:creationId xmlns:a16="http://schemas.microsoft.com/office/drawing/2014/main" id="{5DE2EFBB-E796-0D7B-9E60-98D5F4D3C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2588" y="982906"/>
            <a:ext cx="6734307" cy="421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9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53E39E6-2A74-404E-B4BC-EEC89C01B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23F0A-5162-D9D6-129E-FDC9DD16F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b">
            <a:normAutofit/>
          </a:bodyPr>
          <a:lstStyle/>
          <a:p>
            <a:r>
              <a:rPr lang="en-US" err="1"/>
              <a:t>WorkFlow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D253D93-3319-4E06-B75F-009AE70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44576" cy="6858000"/>
          </a:xfrm>
          <a:custGeom>
            <a:avLst/>
            <a:gdLst>
              <a:gd name="connsiteX0" fmla="*/ 0 w 6444576"/>
              <a:gd name="connsiteY0" fmla="*/ 0 h 6858000"/>
              <a:gd name="connsiteX1" fmla="*/ 6444576 w 6444576"/>
              <a:gd name="connsiteY1" fmla="*/ 0 h 6858000"/>
              <a:gd name="connsiteX2" fmla="*/ 6444576 w 6444576"/>
              <a:gd name="connsiteY2" fmla="*/ 6858000 h 6858000"/>
              <a:gd name="connsiteX3" fmla="*/ 0 w 64445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4576" h="6858000">
                <a:moveTo>
                  <a:pt x="0" y="0"/>
                </a:moveTo>
                <a:lnTo>
                  <a:pt x="6444576" y="0"/>
                </a:lnTo>
                <a:lnTo>
                  <a:pt x="6444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88EC4927-082C-D3CD-F082-95596552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76" y="1816348"/>
            <a:ext cx="5353200" cy="322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3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DD351-DC38-2681-2ED8-A25B8F69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9276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Network Topology: Segmented Design Ensures Full Traffic Visibility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BC92B9-8DF7-A0C8-0264-9E2A6A782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9604077"/>
              </p:ext>
            </p:extLst>
          </p:nvPr>
        </p:nvGraphicFramePr>
        <p:xfrm>
          <a:off x="5591422" y="2014967"/>
          <a:ext cx="6049715" cy="2818793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1822586">
                  <a:extLst>
                    <a:ext uri="{9D8B030D-6E8A-4147-A177-3AD203B41FA5}">
                      <a16:colId xmlns:a16="http://schemas.microsoft.com/office/drawing/2014/main" val="174521449"/>
                    </a:ext>
                  </a:extLst>
                </a:gridCol>
                <a:gridCol w="2087112">
                  <a:extLst>
                    <a:ext uri="{9D8B030D-6E8A-4147-A177-3AD203B41FA5}">
                      <a16:colId xmlns:a16="http://schemas.microsoft.com/office/drawing/2014/main" val="3828114669"/>
                    </a:ext>
                  </a:extLst>
                </a:gridCol>
                <a:gridCol w="2140017">
                  <a:extLst>
                    <a:ext uri="{9D8B030D-6E8A-4147-A177-3AD203B41FA5}">
                      <a16:colId xmlns:a16="http://schemas.microsoft.com/office/drawing/2014/main" val="1297730488"/>
                    </a:ext>
                  </a:extLst>
                </a:gridCol>
              </a:tblGrid>
              <a:tr h="41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Segment</a:t>
                      </a:r>
                    </a:p>
                  </a:txBody>
                  <a:tcPr marL="95229" marR="95229" marT="47615" marB="476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Components</a:t>
                      </a:r>
                    </a:p>
                  </a:txBody>
                  <a:tcPr marL="95229" marR="95229" marT="47615" marB="476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95229" marR="95229" marT="47615" marB="47615" anchor="ctr"/>
                </a:tc>
                <a:extLst>
                  <a:ext uri="{0D108BD9-81ED-4DB2-BD59-A6C34878D82A}">
                    <a16:rowId xmlns:a16="http://schemas.microsoft.com/office/drawing/2014/main" val="4021619655"/>
                  </a:ext>
                </a:extLst>
              </a:tr>
              <a:tr h="704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Perimeter Zone</a:t>
                      </a:r>
                      <a:endParaRPr lang="en-US" sz="19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5229" marR="95229" marT="47615" marB="476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pfSense</a:t>
                      </a: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Suricata</a:t>
                      </a:r>
                    </a:p>
                  </a:txBody>
                  <a:tcPr marL="95229" marR="95229" marT="47615" marB="476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First-line filtering &amp; IDS/IPS</a:t>
                      </a:r>
                    </a:p>
                  </a:txBody>
                  <a:tcPr marL="95229" marR="95229" marT="47615" marB="47615" anchor="ctr"/>
                </a:tc>
                <a:extLst>
                  <a:ext uri="{0D108BD9-81ED-4DB2-BD59-A6C34878D82A}">
                    <a16:rowId xmlns:a16="http://schemas.microsoft.com/office/drawing/2014/main" val="682812344"/>
                  </a:ext>
                </a:extLst>
              </a:tr>
              <a:tr h="990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Internal Zone</a:t>
                      </a:r>
                      <a:endParaRPr lang="en-US" sz="19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5229" marR="95229" marT="47615" marB="476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Wazuh</a:t>
                      </a: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Server, </a:t>
                      </a:r>
                      <a:r>
                        <a:rPr lang="en-US" sz="190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TheHive</a:t>
                      </a: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Shuffle</a:t>
                      </a:r>
                    </a:p>
                  </a:txBody>
                  <a:tcPr marL="95229" marR="95229" marT="47615" marB="476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SIEM, SOAR, and case management</a:t>
                      </a:r>
                    </a:p>
                  </a:txBody>
                  <a:tcPr marL="95229" marR="95229" marT="47615" marB="47615" anchor="ctr"/>
                </a:tc>
                <a:extLst>
                  <a:ext uri="{0D108BD9-81ED-4DB2-BD59-A6C34878D82A}">
                    <a16:rowId xmlns:a16="http://schemas.microsoft.com/office/drawing/2014/main" val="1327019555"/>
                  </a:ext>
                </a:extLst>
              </a:tr>
              <a:tr h="704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Endpoint Zone</a:t>
                      </a:r>
                      <a:endParaRPr lang="en-US" sz="19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5229" marR="95229" marT="47615" marB="476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Windows 10 VM + </a:t>
                      </a:r>
                      <a:r>
                        <a:rPr lang="en-US" sz="190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Wazuh</a:t>
                      </a: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Agent</a:t>
                      </a:r>
                    </a:p>
                  </a:txBody>
                  <a:tcPr marL="95229" marR="95229" marT="47615" marB="476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Host-based monitoring &amp; FIM</a:t>
                      </a:r>
                    </a:p>
                  </a:txBody>
                  <a:tcPr marL="95229" marR="95229" marT="47615" marB="47615" anchor="ctr"/>
                </a:tc>
                <a:extLst>
                  <a:ext uri="{0D108BD9-81ED-4DB2-BD59-A6C34878D82A}">
                    <a16:rowId xmlns:a16="http://schemas.microsoft.com/office/drawing/2014/main" val="1258084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32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DB36-5AC6-A7CA-44E8-AB529EBD9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>
                <a:ea typeface="+mj-lt"/>
                <a:cs typeface="+mj-lt"/>
              </a:rPr>
              <a:t>pfSense</a:t>
            </a:r>
            <a:r>
              <a:rPr lang="en-US">
                <a:ea typeface="+mj-lt"/>
                <a:cs typeface="+mj-lt"/>
              </a:rPr>
              <a:t> Provides Perimeter Security and Structured Traffic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B5A51-FE71-F94A-895D-FFFB3143C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 err="1">
                <a:ea typeface="+mn-lt"/>
                <a:cs typeface="+mn-lt"/>
              </a:rPr>
              <a:t>pfSense</a:t>
            </a:r>
            <a:r>
              <a:rPr lang="en-US">
                <a:ea typeface="+mn-lt"/>
                <a:cs typeface="+mn-lt"/>
              </a:rPr>
              <a:t> acts as the network's first line of defense, filtering traffic and forwarding logs to </a:t>
            </a:r>
            <a:r>
              <a:rPr lang="en-US" err="1">
                <a:ea typeface="+mn-lt"/>
                <a:cs typeface="+mn-lt"/>
              </a:rPr>
              <a:t>Wazuh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269875" indent="-269875"/>
            <a:endParaRPr lang="en-US"/>
          </a:p>
        </p:txBody>
      </p:sp>
      <p:pic>
        <p:nvPicPr>
          <p:cNvPr id="5" name="Picture 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A618FE7-A5DA-19FE-D600-CECEF2780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400" y="4606435"/>
            <a:ext cx="2969603" cy="120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5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D148B-106F-290C-2DB1-206957375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en-US" sz="3800">
                <a:ea typeface="+mj-lt"/>
                <a:cs typeface="+mj-lt"/>
              </a:rPr>
              <a:t>Suricata Detects Network-Level Threats in Real Time</a:t>
            </a:r>
          </a:p>
        </p:txBody>
      </p:sp>
      <p:pic>
        <p:nvPicPr>
          <p:cNvPr id="9" name="Picture 8" descr="Suricata's logos">
            <a:extLst>
              <a:ext uri="{FF2B5EF4-FFF2-40B4-BE49-F238E27FC236}">
                <a16:creationId xmlns:a16="http://schemas.microsoft.com/office/drawing/2014/main" id="{C98D2A4B-1178-F20E-4E62-70A8D7CBC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223779"/>
            <a:ext cx="6049714" cy="440116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4E5DF8-E7B6-7FF2-D2FC-CECB41D4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Suricata's IDS/IPS capability catches network-based attacks before they reach endpoints.</a:t>
            </a:r>
          </a:p>
          <a:p>
            <a:pPr marL="269875" indent="-269875"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High-performance Network Intrusion Detection/Prevention System (IDS/IPS)</a:t>
            </a:r>
            <a:endParaRPr lang="en-US" sz="1700"/>
          </a:p>
          <a:p>
            <a:pPr marL="269875" indent="-269875"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Inspects packets using signature rules (Emerging Threats ruleset ~25000)</a:t>
            </a:r>
            <a:endParaRPr lang="en-US" sz="1700"/>
          </a:p>
          <a:p>
            <a:pPr marL="269875" indent="-269875"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Generates structured alerts forwarded to </a:t>
            </a:r>
            <a:r>
              <a:rPr lang="en-US" sz="1700" err="1">
                <a:ea typeface="+mn-lt"/>
                <a:cs typeface="+mn-lt"/>
              </a:rPr>
              <a:t>Wazuh</a:t>
            </a:r>
            <a:endParaRPr lang="en-US" sz="1700" err="1"/>
          </a:p>
          <a:p>
            <a:pPr marL="269875" indent="-269875">
              <a:lnSpc>
                <a:spcPct val="115000"/>
              </a:lnSpc>
            </a:pPr>
            <a:endParaRPr lang="en-US" sz="1700"/>
          </a:p>
          <a:p>
            <a:pPr marL="269875" indent="-269875">
              <a:lnSpc>
                <a:spcPct val="11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1021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solidFill>
            <a:srgbClr val="FFFFFF"/>
          </a:solidFill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A186A-BB08-CB5A-BD72-E82D8AC3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2181946"/>
          </a:xfrm>
        </p:spPr>
        <p:txBody>
          <a:bodyPr anchor="t">
            <a:normAutofit/>
          </a:bodyPr>
          <a:lstStyle/>
          <a:p>
            <a:r>
              <a:rPr lang="en-US" sz="3300">
                <a:ea typeface="+mj-lt"/>
                <a:cs typeface="+mj-lt"/>
              </a:rPr>
              <a:t>Wazuh SIEM Centralizes All Logs and Triggers Correlation Alerts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6E0E6-9FE5-75C2-E10B-6A22DAFBD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947121"/>
            <a:ext cx="4500562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lnSpc>
                <a:spcPct val="115000"/>
              </a:lnSpc>
            </a:pPr>
            <a:r>
              <a:rPr lang="en-US" sz="1400" err="1">
                <a:ea typeface="+mn-lt"/>
                <a:cs typeface="+mn-lt"/>
              </a:rPr>
              <a:t>Wazuh</a:t>
            </a:r>
            <a:r>
              <a:rPr lang="en-US" sz="1400">
                <a:ea typeface="+mn-lt"/>
                <a:cs typeface="+mn-lt"/>
              </a:rPr>
              <a:t> aggregates logs from all sources and generates correlated, prioritized security alerts.</a:t>
            </a:r>
          </a:p>
          <a:p>
            <a:pPr marL="269875" indent="-269875">
              <a:lnSpc>
                <a:spcPct val="115000"/>
              </a:lnSpc>
            </a:pPr>
            <a:r>
              <a:rPr lang="en-US" sz="1400">
                <a:ea typeface="+mn-lt"/>
                <a:cs typeface="+mn-lt"/>
              </a:rPr>
              <a:t>Collects logs from endpoints (via agent), </a:t>
            </a:r>
            <a:r>
              <a:rPr lang="en-US" sz="1400" err="1">
                <a:ea typeface="+mn-lt"/>
                <a:cs typeface="+mn-lt"/>
              </a:rPr>
              <a:t>pfSense</a:t>
            </a:r>
            <a:r>
              <a:rPr lang="en-US" sz="1400">
                <a:ea typeface="+mn-lt"/>
                <a:cs typeface="+mn-lt"/>
              </a:rPr>
              <a:t> (syslog), and Suricata</a:t>
            </a:r>
            <a:endParaRPr lang="en-US" sz="1400"/>
          </a:p>
          <a:p>
            <a:pPr marL="269875" indent="-269875">
              <a:lnSpc>
                <a:spcPct val="115000"/>
              </a:lnSpc>
            </a:pPr>
            <a:r>
              <a:rPr lang="en-US" sz="1400">
                <a:ea typeface="+mn-lt"/>
                <a:cs typeface="+mn-lt"/>
              </a:rPr>
              <a:t>File Integrity Monitoring (FIM) on Windows 10 endpoint</a:t>
            </a:r>
            <a:endParaRPr lang="en-US" sz="1400"/>
          </a:p>
          <a:p>
            <a:pPr marL="269875" indent="-269875">
              <a:lnSpc>
                <a:spcPct val="115000"/>
              </a:lnSpc>
            </a:pPr>
            <a:r>
              <a:rPr lang="en-US" sz="1400">
                <a:ea typeface="+mn-lt"/>
                <a:cs typeface="+mn-lt"/>
              </a:rPr>
              <a:t>Rule-based alert engine with severity levels (0–15)</a:t>
            </a:r>
            <a:endParaRPr lang="en-US" sz="1400"/>
          </a:p>
          <a:p>
            <a:pPr marL="269875" indent="-269875">
              <a:lnSpc>
                <a:spcPct val="115000"/>
              </a:lnSpc>
            </a:pPr>
            <a:r>
              <a:rPr lang="en-US" sz="1400">
                <a:ea typeface="+mn-lt"/>
                <a:cs typeface="+mn-lt"/>
              </a:rPr>
              <a:t>Compliance mapping (PCI-DSS, HIPAA, MITRE ATT&amp;CK)</a:t>
            </a:r>
            <a:endParaRPr lang="en-US" sz="1400"/>
          </a:p>
          <a:p>
            <a:pPr marL="269875" indent="-269875">
              <a:lnSpc>
                <a:spcPct val="115000"/>
              </a:lnSpc>
            </a:pPr>
            <a:endParaRPr lang="en-US" sz="1400"/>
          </a:p>
        </p:txBody>
      </p:sp>
      <p:pic>
        <p:nvPicPr>
          <p:cNvPr id="4" name="Picture 3" descr="wazuh logo">
            <a:extLst>
              <a:ext uri="{FF2B5EF4-FFF2-40B4-BE49-F238E27FC236}">
                <a16:creationId xmlns:a16="http://schemas.microsoft.com/office/drawing/2014/main" id="{75B7BCCE-7F07-13F2-101A-8C9FEB23A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000" y="2917152"/>
            <a:ext cx="3600000" cy="102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54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26165-DCDF-EA9F-1984-D0FE73BD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2181946"/>
          </a:xfrm>
        </p:spPr>
        <p:txBody>
          <a:bodyPr anchor="t">
            <a:normAutofit/>
          </a:bodyPr>
          <a:lstStyle/>
          <a:p>
            <a:r>
              <a:rPr lang="en-US" sz="3300">
                <a:ea typeface="+mj-lt"/>
                <a:cs typeface="+mj-lt"/>
              </a:rPr>
              <a:t>Shuffle SOAR Automates the Entire Enrichment and Response Workflow</a:t>
            </a:r>
            <a:endParaRPr lang="en-US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F9E3A-0DCC-EB4A-1FD0-04F0A6F7D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947121"/>
            <a:ext cx="4500562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lnSpc>
                <a:spcPct val="115000"/>
              </a:lnSpc>
            </a:pPr>
            <a:r>
              <a:rPr lang="en-US" sz="1500">
                <a:ea typeface="+mn-lt"/>
                <a:cs typeface="+mn-lt"/>
              </a:rPr>
              <a:t>Shuffle eliminates manual triage by automating IP/domain enrichment, scoring, and alerting in seconds</a:t>
            </a:r>
          </a:p>
          <a:p>
            <a:pPr marL="269875" indent="-269875">
              <a:lnSpc>
                <a:spcPct val="115000"/>
              </a:lnSpc>
            </a:pPr>
            <a:r>
              <a:rPr lang="en-US" sz="1500">
                <a:ea typeface="+mn-lt"/>
                <a:cs typeface="+mn-lt"/>
              </a:rPr>
              <a:t>Open-source SOAR platform (workflow-based automation)</a:t>
            </a:r>
          </a:p>
          <a:p>
            <a:pPr marL="269875" indent="-269875">
              <a:lnSpc>
                <a:spcPct val="115000"/>
              </a:lnSpc>
            </a:pPr>
            <a:r>
              <a:rPr lang="en-US" sz="1500">
                <a:ea typeface="+mn-lt"/>
                <a:cs typeface="+mn-lt"/>
              </a:rPr>
              <a:t>Triggers on </a:t>
            </a:r>
            <a:r>
              <a:rPr lang="en-US" sz="1500" err="1">
                <a:ea typeface="+mn-lt"/>
                <a:cs typeface="+mn-lt"/>
              </a:rPr>
              <a:t>Wazuh</a:t>
            </a:r>
            <a:r>
              <a:rPr lang="en-US" sz="1500">
                <a:ea typeface="+mn-lt"/>
                <a:cs typeface="+mn-lt"/>
              </a:rPr>
              <a:t> alerts via webhook</a:t>
            </a:r>
            <a:endParaRPr lang="en-US" sz="1500"/>
          </a:p>
          <a:p>
            <a:pPr marL="269875" indent="-269875">
              <a:lnSpc>
                <a:spcPct val="115000"/>
              </a:lnSpc>
            </a:pPr>
            <a:r>
              <a:rPr lang="en-US" sz="1500">
                <a:ea typeface="+mn-lt"/>
                <a:cs typeface="+mn-lt"/>
              </a:rPr>
              <a:t>Orchestrates calls to </a:t>
            </a:r>
            <a:r>
              <a:rPr lang="en-US" sz="1500" err="1">
                <a:ea typeface="+mn-lt"/>
                <a:cs typeface="+mn-lt"/>
              </a:rPr>
              <a:t>VirusTotal</a:t>
            </a:r>
            <a:r>
              <a:rPr lang="en-US" sz="1500">
                <a:ea typeface="+mn-lt"/>
                <a:cs typeface="+mn-lt"/>
              </a:rPr>
              <a:t>, AlienVault OTX, and Cortex</a:t>
            </a:r>
            <a:endParaRPr lang="en-US" sz="1500"/>
          </a:p>
          <a:p>
            <a:pPr marL="269875" indent="-269875">
              <a:lnSpc>
                <a:spcPct val="115000"/>
              </a:lnSpc>
            </a:pPr>
            <a:r>
              <a:rPr lang="en-US" sz="1500">
                <a:ea typeface="+mn-lt"/>
                <a:cs typeface="+mn-lt"/>
              </a:rPr>
              <a:t>Sends structured notifications to Discord</a:t>
            </a:r>
            <a:endParaRPr lang="en-US" sz="1500"/>
          </a:p>
          <a:p>
            <a:pPr marL="269875" indent="-269875">
              <a:lnSpc>
                <a:spcPct val="115000"/>
              </a:lnSpc>
            </a:pPr>
            <a:endParaRPr lang="en-US" sz="1500">
              <a:ea typeface="+mn-lt"/>
              <a:cs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1564ED0-C8F1-1817-DE6A-D2098473C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5000" y="3044267"/>
            <a:ext cx="3600000" cy="76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8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4A29-CC52-8F66-482F-EC28115F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TheHive</a:t>
            </a:r>
            <a:r>
              <a:rPr lang="en-US">
                <a:ea typeface="+mj-lt"/>
                <a:cs typeface="+mj-lt"/>
              </a:rPr>
              <a:t> and Cortex Close the Loop on Incident Management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ACC7B-A3AA-D317-017D-891B82D61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 err="1">
                <a:ea typeface="+mn-lt"/>
                <a:cs typeface="+mn-lt"/>
              </a:rPr>
              <a:t>TheHive</a:t>
            </a:r>
            <a:r>
              <a:rPr lang="en-US">
                <a:ea typeface="+mn-lt"/>
                <a:cs typeface="+mn-lt"/>
              </a:rPr>
              <a:t> provides structured case tracking; Cortex automates observable analysis — together they enable accountable incident response.</a:t>
            </a:r>
          </a:p>
          <a:p>
            <a:pPr marL="269875" indent="-269875"/>
            <a:r>
              <a:rPr lang="en-US">
                <a:ea typeface="+mn-lt"/>
                <a:cs typeface="+mn-lt"/>
              </a:rPr>
              <a:t>Open-source Security Incident Response Platform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Cases created automatically via Shuffle webhook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Supports multi-analyst collaboration and task assignment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Full audit trail for every incident</a:t>
            </a:r>
            <a:endParaRPr lang="en-US"/>
          </a:p>
          <a:p>
            <a:pPr marL="269875" indent="-26987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30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61D0-918B-DD39-F7BD-AB4E886A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MISP Enables Community-Sourced Threat Intelligence Sharing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39C18-EA9B-0F49-DA93-BF15EBC92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>
                <a:ea typeface="+mn-lt"/>
                <a:cs typeface="+mn-lt"/>
              </a:rPr>
              <a:t>MISP integration ensures the SOC benefits from real-time, community-curated threat intelligence feeds.</a:t>
            </a:r>
          </a:p>
          <a:p>
            <a:pPr marL="269875" indent="-269875"/>
            <a:r>
              <a:rPr lang="en-US">
                <a:ea typeface="+mn-lt"/>
                <a:cs typeface="+mn-lt"/>
              </a:rPr>
              <a:t>Malware Information Sharing Platform — open-source threat intelligence hub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Stores and shares Indicators of Compromise (IOCs): IPs, hashes, URLs, domains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Syncs threat data with Cortex via API</a:t>
            </a:r>
            <a:endParaRPr lang="en-US"/>
          </a:p>
          <a:p>
            <a:pPr marL="269875" indent="-26987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67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D5FD-BECA-826E-7571-C903310D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97125"/>
            <a:ext cx="10977310" cy="1438025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AlienVault OTX and </a:t>
            </a:r>
            <a:r>
              <a:rPr lang="en-US" err="1">
                <a:ea typeface="+mj-lt"/>
                <a:cs typeface="+mj-lt"/>
              </a:rPr>
              <a:t>VirusTotal</a:t>
            </a:r>
            <a:r>
              <a:rPr lang="en-US">
                <a:ea typeface="+mj-lt"/>
                <a:cs typeface="+mj-lt"/>
              </a:rPr>
              <a:t> Validate IOCs Against Global Threat Data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7280-98E0-F1BB-EF07-490249F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>
                <a:ea typeface="+mn-lt"/>
                <a:cs typeface="+mn-lt"/>
              </a:rPr>
              <a:t>External threat feeds from OTX and </a:t>
            </a:r>
            <a:r>
              <a:rPr lang="en-US" err="1">
                <a:ea typeface="+mn-lt"/>
                <a:cs typeface="+mn-lt"/>
              </a:rPr>
              <a:t>VirusTotal</a:t>
            </a:r>
            <a:r>
              <a:rPr lang="en-US">
                <a:ea typeface="+mn-lt"/>
                <a:cs typeface="+mn-lt"/>
              </a:rPr>
              <a:t> provide independent, real-time IOC validation at zero cost.</a:t>
            </a:r>
          </a:p>
          <a:p>
            <a:pPr marL="269875" indent="-269875"/>
            <a:r>
              <a:rPr lang="en-US">
                <a:ea typeface="+mn-lt"/>
                <a:cs typeface="+mn-lt"/>
              </a:rPr>
              <a:t>Free, community-driven Open Threat Exchange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Provides threat pulses: malicious IP/domain/hash reputation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Integrated via Cortex analyzer + direct Shuffle workflow call</a:t>
            </a:r>
            <a:endParaRPr lang="en-US"/>
          </a:p>
          <a:p>
            <a:pPr marL="269875" indent="-26987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3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F1402-2867-4C4F-A1BA-606198AD7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4514" y="-87086"/>
            <a:ext cx="4320000" cy="4320000"/>
          </a:xfrm>
          <a:prstGeom prst="ellipse">
            <a:avLst/>
          </a:prstGeom>
          <a:solidFill>
            <a:schemeClr val="accent3">
              <a:alpha val="96000"/>
            </a:schemeClr>
          </a:solidFill>
          <a:ln>
            <a:noFill/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887A981-7310-4FDA-96E6-73ECCD6C4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3874" y="3600"/>
            <a:ext cx="6854400" cy="685440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D4C940-D8EF-42FB-B65E-81A70494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" y="1640114"/>
            <a:ext cx="5217886" cy="521788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60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A1B230-58D0-41AA-8ACD-0AE93078B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6000" y="0"/>
            <a:ext cx="10800000" cy="6858000"/>
            <a:chOff x="2328000" y="0"/>
            <a:chExt cx="2880000" cy="1440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1B32BAF-B8A7-40EA-8C6C-3409A4268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68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AB64E17-54DF-4E9F-BB8F-9619CAE1A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2328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AEDD01-B338-442A-9214-A38E48E3F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048499" y="1714500"/>
            <a:ext cx="6858000" cy="3429000"/>
            <a:chOff x="0" y="0"/>
            <a:chExt cx="2880000" cy="1440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444701A-B337-4728-803C-208856DC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7B1125A-A245-40E7-937C-DB195DADF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445038F8-360D-46AD-B2F1-47DAB7AA0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60000">
                <a:schemeClr val="accent3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1297267-64FC-46DE-88B8-E76DC4691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2AEB4-A25C-5407-1764-C7174E5A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9276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The Eight-Step Automated Pipeline Runs From Alert to Resolution in Under 60 Seconds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0A09031-1697-4CF1-8372-9D6B798ED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7424" y="0"/>
            <a:ext cx="6444576" cy="6858000"/>
          </a:xfrm>
          <a:custGeom>
            <a:avLst/>
            <a:gdLst>
              <a:gd name="connsiteX0" fmla="*/ 0 w 6444576"/>
              <a:gd name="connsiteY0" fmla="*/ 0 h 6858000"/>
              <a:gd name="connsiteX1" fmla="*/ 6444576 w 6444576"/>
              <a:gd name="connsiteY1" fmla="*/ 0 h 6858000"/>
              <a:gd name="connsiteX2" fmla="*/ 6444576 w 6444576"/>
              <a:gd name="connsiteY2" fmla="*/ 6858000 h 6858000"/>
              <a:gd name="connsiteX3" fmla="*/ 0 w 64445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4576" h="6858000">
                <a:moveTo>
                  <a:pt x="0" y="0"/>
                </a:moveTo>
                <a:lnTo>
                  <a:pt x="6444576" y="0"/>
                </a:lnTo>
                <a:lnTo>
                  <a:pt x="6444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279A3A2-6DD4-F689-631E-A37F91EEA1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9511888"/>
              </p:ext>
            </p:extLst>
          </p:nvPr>
        </p:nvGraphicFramePr>
        <p:xfrm>
          <a:off x="6074019" y="153865"/>
          <a:ext cx="5896353" cy="66167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44679">
                  <a:extLst>
                    <a:ext uri="{9D8B030D-6E8A-4147-A177-3AD203B41FA5}">
                      <a16:colId xmlns:a16="http://schemas.microsoft.com/office/drawing/2014/main" val="988537419"/>
                    </a:ext>
                  </a:extLst>
                </a:gridCol>
                <a:gridCol w="2348154">
                  <a:extLst>
                    <a:ext uri="{9D8B030D-6E8A-4147-A177-3AD203B41FA5}">
                      <a16:colId xmlns:a16="http://schemas.microsoft.com/office/drawing/2014/main" val="3093179504"/>
                    </a:ext>
                  </a:extLst>
                </a:gridCol>
                <a:gridCol w="2703520">
                  <a:extLst>
                    <a:ext uri="{9D8B030D-6E8A-4147-A177-3AD203B41FA5}">
                      <a16:colId xmlns:a16="http://schemas.microsoft.com/office/drawing/2014/main" val="2429094813"/>
                    </a:ext>
                  </a:extLst>
                </a:gridCol>
              </a:tblGrid>
              <a:tr h="507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Step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Component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Action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1598804711"/>
                  </a:ext>
                </a:extLst>
              </a:tr>
              <a:tr h="82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pfSense</a:t>
                      </a:r>
                      <a:r>
                        <a:rPr lang="en-US" sz="1800"/>
                        <a:t> / Suricata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Detect suspicious traffic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2022948963"/>
                  </a:ext>
                </a:extLst>
              </a:tr>
              <a:tr h="82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Wazuh</a:t>
                      </a:r>
                      <a:r>
                        <a:rPr lang="en-US" sz="1800"/>
                        <a:t> SIEM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Generate and correlate alert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3106229250"/>
                  </a:ext>
                </a:extLst>
              </a:tr>
              <a:tr h="82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Shuffle SOAR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Receive alert via webhook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1828277070"/>
                  </a:ext>
                </a:extLst>
              </a:tr>
              <a:tr h="507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VirusTotal</a:t>
                      </a:r>
                      <a:r>
                        <a:rPr lang="en-US" sz="1800"/>
                        <a:t> API / </a:t>
                      </a:r>
                      <a:r>
                        <a:rPr lang="en-US" sz="1800" err="1"/>
                        <a:t>AbuseIPDB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Check IOC reputation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2609968134"/>
                  </a:ext>
                </a:extLst>
              </a:tr>
              <a:tr h="507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AlienVault OTX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Check IOC pulse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2490540056"/>
                  </a:ext>
                </a:extLst>
              </a:tr>
              <a:tr h="82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Cortex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Analyze observables via analyzers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1530214697"/>
                  </a:ext>
                </a:extLst>
              </a:tr>
              <a:tr h="82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7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TheHive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Create case if malicious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646607995"/>
                  </a:ext>
                </a:extLst>
              </a:tr>
              <a:tr h="82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Discord</a:t>
                      </a:r>
                    </a:p>
                  </a:txBody>
                  <a:tcPr marL="89344" marR="89344" marT="44672" marB="446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Send real-time analyst notification</a:t>
                      </a:r>
                    </a:p>
                  </a:txBody>
                  <a:tcPr marL="89344" marR="89344" marT="44672" marB="44672" anchor="ctr"/>
                </a:tc>
                <a:extLst>
                  <a:ext uri="{0D108BD9-81ED-4DB2-BD59-A6C34878D82A}">
                    <a16:rowId xmlns:a16="http://schemas.microsoft.com/office/drawing/2014/main" val="201522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640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2D455B-C993-4AC2-BAC2-D5C9890CE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C93F8-40D3-90B9-C358-1F57E6DC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68725"/>
          </a:xfrm>
        </p:spPr>
        <p:txBody>
          <a:bodyPr anchor="t">
            <a:normAutofit/>
          </a:bodyPr>
          <a:lstStyle/>
          <a:p>
            <a:r>
              <a:rPr lang="en-US" sz="5500">
                <a:ea typeface="+mj-lt"/>
                <a:cs typeface="+mj-lt"/>
              </a:rPr>
              <a:t>Testing Methodology: Controlled Simulations Cover Four Attack Categories</a:t>
            </a:r>
            <a:endParaRPr lang="en-US" sz="5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3ABB9-18C1-1E9F-F0D5-073AE94E5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4304522"/>
            <a:ext cx="6408738" cy="201217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69875" indent="-269875"/>
            <a:r>
              <a:rPr lang="en-US">
                <a:ea typeface="+mn-lt"/>
                <a:cs typeface="+mn-lt"/>
              </a:rPr>
              <a:t>Testing used four attack categories to validate detection, enrichment, and response across the full pipeline.</a:t>
            </a:r>
          </a:p>
          <a:p>
            <a:pPr marL="269875" indent="-269875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34E936-455C-482D-09E9-8159A9AE3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92564"/>
              </p:ext>
            </p:extLst>
          </p:nvPr>
        </p:nvGraphicFramePr>
        <p:xfrm>
          <a:off x="5232400" y="899505"/>
          <a:ext cx="6408737" cy="283085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8660">
                  <a:extLst>
                    <a:ext uri="{9D8B030D-6E8A-4147-A177-3AD203B41FA5}">
                      <a16:colId xmlns:a16="http://schemas.microsoft.com/office/drawing/2014/main" val="2934331972"/>
                    </a:ext>
                  </a:extLst>
                </a:gridCol>
                <a:gridCol w="2875787">
                  <a:extLst>
                    <a:ext uri="{9D8B030D-6E8A-4147-A177-3AD203B41FA5}">
                      <a16:colId xmlns:a16="http://schemas.microsoft.com/office/drawing/2014/main" val="1295112326"/>
                    </a:ext>
                  </a:extLst>
                </a:gridCol>
                <a:gridCol w="3044290">
                  <a:extLst>
                    <a:ext uri="{9D8B030D-6E8A-4147-A177-3AD203B41FA5}">
                      <a16:colId xmlns:a16="http://schemas.microsoft.com/office/drawing/2014/main" val="1666958049"/>
                    </a:ext>
                  </a:extLst>
                </a:gridCol>
              </a:tblGrid>
              <a:tr h="444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#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Attack Type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Tools Used</a:t>
                      </a:r>
                    </a:p>
                  </a:txBody>
                  <a:tcPr marL="101102" marR="101102" marT="50551" marB="50551" anchor="ctr"/>
                </a:tc>
                <a:extLst>
                  <a:ext uri="{0D108BD9-81ED-4DB2-BD59-A6C34878D82A}">
                    <a16:rowId xmlns:a16="http://schemas.microsoft.com/office/drawing/2014/main" val="4006413139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1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Network Port Scan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Nmap</a:t>
                      </a:r>
                    </a:p>
                  </a:txBody>
                  <a:tcPr marL="101102" marR="101102" marT="50551" marB="50551" anchor="ctr"/>
                </a:tc>
                <a:extLst>
                  <a:ext uri="{0D108BD9-81ED-4DB2-BD59-A6C34878D82A}">
                    <a16:rowId xmlns:a16="http://schemas.microsoft.com/office/drawing/2014/main" val="4167167334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Brute-Force SSH/RDP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Hydra</a:t>
                      </a:r>
                    </a:p>
                  </a:txBody>
                  <a:tcPr marL="101102" marR="101102" marT="50551" marB="50551" anchor="ctr"/>
                </a:tc>
                <a:extLst>
                  <a:ext uri="{0D108BD9-81ED-4DB2-BD59-A6C34878D82A}">
                    <a16:rowId xmlns:a16="http://schemas.microsoft.com/office/drawing/2014/main" val="2876246699"/>
                  </a:ext>
                </a:extLst>
              </a:tr>
              <a:tr h="74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3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Malicious IP C2 Simulation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Manual traffic to known-bad IPs</a:t>
                      </a:r>
                    </a:p>
                  </a:txBody>
                  <a:tcPr marL="101102" marR="101102" marT="50551" marB="50551" anchor="ctr"/>
                </a:tc>
                <a:extLst>
                  <a:ext uri="{0D108BD9-81ED-4DB2-BD59-A6C34878D82A}">
                    <a16:rowId xmlns:a16="http://schemas.microsoft.com/office/drawing/2014/main" val="4234566126"/>
                  </a:ext>
                </a:extLst>
              </a:tr>
              <a:tr h="74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4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File Integrity Violation</a:t>
                      </a:r>
                    </a:p>
                  </a:txBody>
                  <a:tcPr marL="101102" marR="101102" marT="50551" marB="50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Modified system files on Windows 10</a:t>
                      </a:r>
                    </a:p>
                  </a:txBody>
                  <a:tcPr marL="101102" marR="101102" marT="50551" marB="50551" anchor="ctr"/>
                </a:tc>
                <a:extLst>
                  <a:ext uri="{0D108BD9-81ED-4DB2-BD59-A6C34878D82A}">
                    <a16:rowId xmlns:a16="http://schemas.microsoft.com/office/drawing/2014/main" val="3988474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845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3F1402-2867-4C4F-A1BA-606198AD7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4514" y="-87086"/>
            <a:ext cx="4320000" cy="4320000"/>
          </a:xfrm>
          <a:prstGeom prst="ellipse">
            <a:avLst/>
          </a:prstGeom>
          <a:solidFill>
            <a:schemeClr val="accent3">
              <a:alpha val="96000"/>
            </a:schemeClr>
          </a:solidFill>
          <a:ln>
            <a:noFill/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887A981-7310-4FDA-96E6-73ECCD6C4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3874" y="3600"/>
            <a:ext cx="6854400" cy="685440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4C940-D8EF-42FB-B65E-81A70494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" y="1640114"/>
            <a:ext cx="5217886" cy="521788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60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6A1B230-58D0-41AA-8ACD-0AE93078B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6000" y="0"/>
            <a:ext cx="10800000" cy="6858000"/>
            <a:chOff x="2328000" y="0"/>
            <a:chExt cx="2880000" cy="1440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1B32BAF-B8A7-40EA-8C6C-3409A4268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68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AB64E17-54DF-4E9F-BB8F-9619CAE1A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2328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AEDD01-B338-442A-9214-A38E48E3F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048499" y="1714500"/>
            <a:ext cx="6858000" cy="3429000"/>
            <a:chOff x="0" y="0"/>
            <a:chExt cx="2880000" cy="1440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444701A-B337-4728-803C-208856DC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7B1125A-A245-40E7-937C-DB195DADF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45038F8-360D-46AD-B2F1-47DAB7AA0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60000">
                <a:schemeClr val="accent3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297267-64FC-46DE-88B8-E76DC4691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30641-841D-7848-65C3-CD9E4CA7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9276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Detection Results: System Caught All Four Attack Categories with High Accuracy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0A09031-1697-4CF1-8372-9D6B798ED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7424" y="0"/>
            <a:ext cx="6444576" cy="6858000"/>
          </a:xfrm>
          <a:custGeom>
            <a:avLst/>
            <a:gdLst>
              <a:gd name="connsiteX0" fmla="*/ 0 w 6444576"/>
              <a:gd name="connsiteY0" fmla="*/ 0 h 6858000"/>
              <a:gd name="connsiteX1" fmla="*/ 6444576 w 6444576"/>
              <a:gd name="connsiteY1" fmla="*/ 0 h 6858000"/>
              <a:gd name="connsiteX2" fmla="*/ 6444576 w 6444576"/>
              <a:gd name="connsiteY2" fmla="*/ 6858000 h 6858000"/>
              <a:gd name="connsiteX3" fmla="*/ 0 w 64445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4576" h="6858000">
                <a:moveTo>
                  <a:pt x="0" y="0"/>
                </a:moveTo>
                <a:lnTo>
                  <a:pt x="6444576" y="0"/>
                </a:lnTo>
                <a:lnTo>
                  <a:pt x="6444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D29EF98A-BB22-7479-4A18-B091F4E7E4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4524258"/>
              </p:ext>
            </p:extLst>
          </p:nvPr>
        </p:nvGraphicFramePr>
        <p:xfrm>
          <a:off x="6030057" y="205153"/>
          <a:ext cx="5924949" cy="6295904"/>
        </p:xfrm>
        <a:graphic>
          <a:graphicData uri="http://schemas.openxmlformats.org/drawingml/2006/table">
            <a:tbl>
              <a:tblPr bandRow="1">
                <a:tableStyleId>{8EC20E35-A176-4012-BC5E-935CFFF8708E}</a:tableStyleId>
              </a:tblPr>
              <a:tblGrid>
                <a:gridCol w="1334228">
                  <a:extLst>
                    <a:ext uri="{9D8B030D-6E8A-4147-A177-3AD203B41FA5}">
                      <a16:colId xmlns:a16="http://schemas.microsoft.com/office/drawing/2014/main" val="3316098882"/>
                    </a:ext>
                  </a:extLst>
                </a:gridCol>
                <a:gridCol w="1189444">
                  <a:extLst>
                    <a:ext uri="{9D8B030D-6E8A-4147-A177-3AD203B41FA5}">
                      <a16:colId xmlns:a16="http://schemas.microsoft.com/office/drawing/2014/main" val="2781009128"/>
                    </a:ext>
                  </a:extLst>
                </a:gridCol>
                <a:gridCol w="1039094">
                  <a:extLst>
                    <a:ext uri="{9D8B030D-6E8A-4147-A177-3AD203B41FA5}">
                      <a16:colId xmlns:a16="http://schemas.microsoft.com/office/drawing/2014/main" val="3788186381"/>
                    </a:ext>
                  </a:extLst>
                </a:gridCol>
                <a:gridCol w="1183876">
                  <a:extLst>
                    <a:ext uri="{9D8B030D-6E8A-4147-A177-3AD203B41FA5}">
                      <a16:colId xmlns:a16="http://schemas.microsoft.com/office/drawing/2014/main" val="837753892"/>
                    </a:ext>
                  </a:extLst>
                </a:gridCol>
                <a:gridCol w="1178307">
                  <a:extLst>
                    <a:ext uri="{9D8B030D-6E8A-4147-A177-3AD203B41FA5}">
                      <a16:colId xmlns:a16="http://schemas.microsoft.com/office/drawing/2014/main" val="2902837385"/>
                    </a:ext>
                  </a:extLst>
                </a:gridCol>
              </a:tblGrid>
              <a:tr h="901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Attack Type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Detected?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MTTD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Alert Source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Notes</a:t>
                      </a:r>
                    </a:p>
                  </a:txBody>
                  <a:tcPr marL="72449" marR="72449" marT="36225" marB="36225" anchor="ctr"/>
                </a:tc>
                <a:extLst>
                  <a:ext uri="{0D108BD9-81ED-4DB2-BD59-A6C34878D82A}">
                    <a16:rowId xmlns:a16="http://schemas.microsoft.com/office/drawing/2014/main" val="3723826618"/>
                  </a:ext>
                </a:extLst>
              </a:tr>
              <a:tr h="1255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Port Scan (Nmap)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 Yes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&lt; 5 sec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Suricata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Multiple rule matches</a:t>
                      </a:r>
                    </a:p>
                  </a:txBody>
                  <a:tcPr marL="72449" marR="72449" marT="36225" marB="36225" anchor="ctr"/>
                </a:tc>
                <a:extLst>
                  <a:ext uri="{0D108BD9-81ED-4DB2-BD59-A6C34878D82A}">
                    <a16:rowId xmlns:a16="http://schemas.microsoft.com/office/drawing/2014/main" val="3346294263"/>
                  </a:ext>
                </a:extLst>
              </a:tr>
              <a:tr h="1255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Brute-Force SSH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&lt; 10 sec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err="1"/>
                        <a:t>Wazuh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Auth failure rule triggered</a:t>
                      </a:r>
                    </a:p>
                  </a:txBody>
                  <a:tcPr marL="72449" marR="72449" marT="36225" marB="36225" anchor="ctr"/>
                </a:tc>
                <a:extLst>
                  <a:ext uri="{0D108BD9-81ED-4DB2-BD59-A6C34878D82A}">
                    <a16:rowId xmlns:a16="http://schemas.microsoft.com/office/drawing/2014/main" val="3566345617"/>
                  </a:ext>
                </a:extLst>
              </a:tr>
              <a:tr h="1627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Malicious IP C2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&lt; 3 sec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Suricata + OTX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IOC matched AlienVault pulse</a:t>
                      </a:r>
                    </a:p>
                  </a:txBody>
                  <a:tcPr marL="72449" marR="72449" marT="36225" marB="36225" anchor="ctr"/>
                </a:tc>
                <a:extLst>
                  <a:ext uri="{0D108BD9-81ED-4DB2-BD59-A6C34878D82A}">
                    <a16:rowId xmlns:a16="http://schemas.microsoft.com/office/drawing/2014/main" val="1994352273"/>
                  </a:ext>
                </a:extLst>
              </a:tr>
              <a:tr h="1255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File Integrity Violation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&lt; 8 sec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err="1"/>
                        <a:t>Wazuh</a:t>
                      </a:r>
                      <a:r>
                        <a:rPr lang="en-US" sz="1400"/>
                        <a:t> FIM</a:t>
                      </a:r>
                    </a:p>
                  </a:txBody>
                  <a:tcPr marL="72449" marR="72449" marT="36225" marB="36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Real-time file change alert</a:t>
                      </a:r>
                    </a:p>
                  </a:txBody>
                  <a:tcPr marL="72449" marR="72449" marT="36225" marB="36225" anchor="ctr"/>
                </a:tc>
                <a:extLst>
                  <a:ext uri="{0D108BD9-81ED-4DB2-BD59-A6C34878D82A}">
                    <a16:rowId xmlns:a16="http://schemas.microsoft.com/office/drawing/2014/main" val="3735389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4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3F1402-2867-4C4F-A1BA-606198AD7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4514" y="-87086"/>
            <a:ext cx="4320000" cy="4320000"/>
          </a:xfrm>
          <a:prstGeom prst="ellipse">
            <a:avLst/>
          </a:prstGeom>
          <a:solidFill>
            <a:schemeClr val="accent3">
              <a:alpha val="96000"/>
            </a:schemeClr>
          </a:solidFill>
          <a:ln>
            <a:noFill/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887A981-7310-4FDA-96E6-73ECCD6C4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3874" y="3600"/>
            <a:ext cx="6854400" cy="685440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4C940-D8EF-42FB-B65E-81A70494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" y="1640114"/>
            <a:ext cx="5217886" cy="521788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60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6A1B230-58D0-41AA-8ACD-0AE93078B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6000" y="0"/>
            <a:ext cx="10800000" cy="6858000"/>
            <a:chOff x="2328000" y="0"/>
            <a:chExt cx="2880000" cy="1440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1B32BAF-B8A7-40EA-8C6C-3409A4268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68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AB64E17-54DF-4E9F-BB8F-9619CAE1A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2328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AEDD01-B338-442A-9214-A38E48E3F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048499" y="1714500"/>
            <a:ext cx="6858000" cy="3429000"/>
            <a:chOff x="0" y="0"/>
            <a:chExt cx="2880000" cy="1440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444701A-B337-4728-803C-208856DC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7B1125A-A245-40E7-937C-DB195DADF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45038F8-360D-46AD-B2F1-47DAB7AA0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60000">
                <a:schemeClr val="accent3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297267-64FC-46DE-88B8-E76DC4691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370CB-B353-710B-A137-98527B553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9276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Automation Reduced Response Time From ~15 Minutes to Under 60 Seconds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0A09031-1697-4CF1-8372-9D6B798ED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7424" y="0"/>
            <a:ext cx="6444576" cy="6858000"/>
          </a:xfrm>
          <a:custGeom>
            <a:avLst/>
            <a:gdLst>
              <a:gd name="connsiteX0" fmla="*/ 0 w 6444576"/>
              <a:gd name="connsiteY0" fmla="*/ 0 h 6858000"/>
              <a:gd name="connsiteX1" fmla="*/ 6444576 w 6444576"/>
              <a:gd name="connsiteY1" fmla="*/ 0 h 6858000"/>
              <a:gd name="connsiteX2" fmla="*/ 6444576 w 6444576"/>
              <a:gd name="connsiteY2" fmla="*/ 6858000 h 6858000"/>
              <a:gd name="connsiteX3" fmla="*/ 0 w 64445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4576" h="6858000">
                <a:moveTo>
                  <a:pt x="0" y="0"/>
                </a:moveTo>
                <a:lnTo>
                  <a:pt x="6444576" y="0"/>
                </a:lnTo>
                <a:lnTo>
                  <a:pt x="6444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9F12AA6-61C9-635E-C44B-AB91D0AEE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541039"/>
              </p:ext>
            </p:extLst>
          </p:nvPr>
        </p:nvGraphicFramePr>
        <p:xfrm>
          <a:off x="6223258" y="482991"/>
          <a:ext cx="5510428" cy="4644698"/>
        </p:xfrm>
        <a:graphic>
          <a:graphicData uri="http://schemas.openxmlformats.org/drawingml/2006/table">
            <a:tbl>
              <a:tblPr bandRow="1">
                <a:tableStyleId>{8EC20E35-A176-4012-BC5E-935CFFF8708E}</a:tableStyleId>
              </a:tblPr>
              <a:tblGrid>
                <a:gridCol w="1745614">
                  <a:extLst>
                    <a:ext uri="{9D8B030D-6E8A-4147-A177-3AD203B41FA5}">
                      <a16:colId xmlns:a16="http://schemas.microsoft.com/office/drawing/2014/main" val="318453554"/>
                    </a:ext>
                  </a:extLst>
                </a:gridCol>
                <a:gridCol w="2172675">
                  <a:extLst>
                    <a:ext uri="{9D8B030D-6E8A-4147-A177-3AD203B41FA5}">
                      <a16:colId xmlns:a16="http://schemas.microsoft.com/office/drawing/2014/main" val="2929741532"/>
                    </a:ext>
                  </a:extLst>
                </a:gridCol>
                <a:gridCol w="1592139">
                  <a:extLst>
                    <a:ext uri="{9D8B030D-6E8A-4147-A177-3AD203B41FA5}">
                      <a16:colId xmlns:a16="http://schemas.microsoft.com/office/drawing/2014/main" val="4116131845"/>
                    </a:ext>
                  </a:extLst>
                </a:gridCol>
              </a:tblGrid>
              <a:tr h="512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Workflow</a:t>
                      </a:r>
                    </a:p>
                  </a:txBody>
                  <a:tcPr marL="93347" marR="93347" marT="46674" marB="4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Steps</a:t>
                      </a:r>
                    </a:p>
                  </a:txBody>
                  <a:tcPr marL="93347" marR="93347" marT="46674" marB="4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Time</a:t>
                      </a:r>
                    </a:p>
                  </a:txBody>
                  <a:tcPr marL="93347" marR="93347" marT="46674" marB="46674" anchor="ctr"/>
                </a:tc>
                <a:extLst>
                  <a:ext uri="{0D108BD9-81ED-4DB2-BD59-A6C34878D82A}">
                    <a16:rowId xmlns:a16="http://schemas.microsoft.com/office/drawing/2014/main" val="2414399549"/>
                  </a:ext>
                </a:extLst>
              </a:tr>
              <a:tr h="2578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Manual SOC</a:t>
                      </a:r>
                      <a:endParaRPr lang="en-US" sz="1800"/>
                    </a:p>
                  </a:txBody>
                  <a:tcPr marL="93347" marR="93347" marT="46674" marB="4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Analyst reads alert → manually queries </a:t>
                      </a:r>
                      <a:r>
                        <a:rPr lang="en-US" sz="1800" err="1"/>
                        <a:t>VirusTotal</a:t>
                      </a:r>
                      <a:r>
                        <a:rPr lang="en-US" sz="1800"/>
                        <a:t> → decides action → documents case → notifies team</a:t>
                      </a:r>
                    </a:p>
                  </a:txBody>
                  <a:tcPr marL="93347" marR="93347" marT="46674" marB="4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~12–20 min</a:t>
                      </a:r>
                    </a:p>
                  </a:txBody>
                  <a:tcPr marL="93347" marR="93347" marT="46674" marB="46674" anchor="ctr"/>
                </a:tc>
                <a:extLst>
                  <a:ext uri="{0D108BD9-81ED-4DB2-BD59-A6C34878D82A}">
                    <a16:rowId xmlns:a16="http://schemas.microsoft.com/office/drawing/2014/main" val="801674072"/>
                  </a:ext>
                </a:extLst>
              </a:tr>
              <a:tr h="1554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Automated Pipeline</a:t>
                      </a:r>
                      <a:endParaRPr lang="en-US" sz="1800"/>
                    </a:p>
                  </a:txBody>
                  <a:tcPr marL="93347" marR="93347" marT="46674" marB="4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Wazuh</a:t>
                      </a:r>
                      <a:r>
                        <a:rPr lang="en-US" sz="1800"/>
                        <a:t> alert → Shuffle → APIs → </a:t>
                      </a:r>
                      <a:r>
                        <a:rPr lang="en-US" sz="1800" err="1"/>
                        <a:t>TheHive</a:t>
                      </a:r>
                      <a:r>
                        <a:rPr lang="en-US" sz="1800"/>
                        <a:t> → Discord</a:t>
                      </a:r>
                    </a:p>
                  </a:txBody>
                  <a:tcPr marL="93347" marR="93347" marT="46674" marB="4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&lt; 180</a:t>
                      </a:r>
                      <a:endParaRPr lang="en-US" sz="1800"/>
                    </a:p>
                    <a:p>
                      <a:pPr lvl="0">
                        <a:buNone/>
                      </a:pPr>
                      <a:r>
                        <a:rPr lang="en-US" sz="1800" b="1"/>
                        <a:t> seconds</a:t>
                      </a:r>
                      <a:endParaRPr lang="en-US" sz="1800"/>
                    </a:p>
                  </a:txBody>
                  <a:tcPr marL="93347" marR="93347" marT="46674" marB="46674" anchor="ctr"/>
                </a:tc>
                <a:extLst>
                  <a:ext uri="{0D108BD9-81ED-4DB2-BD59-A6C34878D82A}">
                    <a16:rowId xmlns:a16="http://schemas.microsoft.com/office/drawing/2014/main" val="12807216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CF08BA-6058-15EA-95D1-859B746687B7}"/>
              </a:ext>
            </a:extLst>
          </p:cNvPr>
          <p:cNvSpPr txBox="1"/>
          <p:nvPr/>
        </p:nvSpPr>
        <p:spPr>
          <a:xfrm>
            <a:off x="6312607" y="5341437"/>
            <a:ext cx="5341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ss</a:t>
            </a:r>
          </a:p>
        </p:txBody>
      </p:sp>
    </p:spTree>
    <p:extLst>
      <p:ext uri="{BB962C8B-B14F-4D97-AF65-F5344CB8AC3E}">
        <p14:creationId xmlns:p14="http://schemas.microsoft.com/office/powerpoint/2010/main" val="281985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2935B3-43F9-4F49-AEEE-A09015DDF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23C3E9F-031F-4D06-B2D1-FBDE7797A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D6B24CB-2D97-4762-B34A-9FE40CECA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2E85C82-5A92-4169-B806-F7A311C1C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36DD679-1C6F-4F84-9CA0-27B1ABCFD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0EBB60D-86C6-45E0-AB7B-8C952F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6710FE-8C5F-4C9D-AF9E-1A7CDAE4C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8556C1B-E283-4483-ACD0-2808A242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575218D-6500-488D-AB87-B8B426C1CC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59891A-F84B-4F49-B829-12D780F427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A4DD948-16D9-47F3-880E-69BF40A2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CED433A-4441-4EF2-A360-2D5C19C7F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23BD0-1D89-643C-A63A-85B260587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200" y="540000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SOAR Workflow Results: Discord Alerts Confirmed Real-Time Threat Notification</a:t>
            </a:r>
          </a:p>
        </p:txBody>
      </p:sp>
      <p:pic>
        <p:nvPicPr>
          <p:cNvPr id="5" name="Picture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AF9C8AC7-72BB-B6A8-9E23-A980EC20F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9" y="2183177"/>
            <a:ext cx="3329885" cy="2496056"/>
          </a:xfrm>
          <a:prstGeom prst="rect">
            <a:avLst/>
          </a:prstGeom>
        </p:spPr>
      </p:pic>
      <p:pic>
        <p:nvPicPr>
          <p:cNvPr id="4" name="Content Placeholder 3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59BDDBFB-AC38-E741-F2AB-6BC9D4F82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0308" y="169731"/>
            <a:ext cx="4363637" cy="180000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A6F786-3FC2-F430-D691-710B74B6C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08" y="4794476"/>
            <a:ext cx="510638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70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53B7-7692-4407-3478-F9016A346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86135"/>
            <a:ext cx="11101135" cy="1809500"/>
          </a:xfrm>
        </p:spPr>
        <p:txBody>
          <a:bodyPr>
            <a:normAutofit fontScale="90000"/>
          </a:bodyPr>
          <a:lstStyle/>
          <a:p>
            <a:r>
              <a:rPr lang="en-US" err="1">
                <a:ea typeface="+mj-lt"/>
                <a:cs typeface="+mj-lt"/>
              </a:rPr>
              <a:t>TheHive</a:t>
            </a:r>
            <a:r>
              <a:rPr lang="en-US">
                <a:ea typeface="+mj-lt"/>
                <a:cs typeface="+mj-lt"/>
              </a:rPr>
              <a:t> Case Management Confirmed End-to-End Incident Accountability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37EB6-BDB3-4A58-0AFC-A5FDDB0E8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>
                <a:ea typeface="+mn-lt"/>
                <a:cs typeface="+mn-lt"/>
              </a:rPr>
              <a:t>Automated case creation in </a:t>
            </a:r>
            <a:r>
              <a:rPr lang="en-US" err="1">
                <a:ea typeface="+mn-lt"/>
                <a:cs typeface="+mn-lt"/>
              </a:rPr>
              <a:t>TheHive</a:t>
            </a:r>
            <a:r>
              <a:rPr lang="en-US">
                <a:ea typeface="+mn-lt"/>
                <a:cs typeface="+mn-lt"/>
              </a:rPr>
              <a:t> ensures every detected threat has a documented response trail.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49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8EC80-7513-F433-D804-FED071A7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9276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Wazuh MITRE ATT&amp;CK Mapping Validates Detection Coverage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69ADAF0-B526-245F-F5E5-33D3856EDC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91422" y="701166"/>
          <a:ext cx="6049715" cy="564768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414855">
                  <a:extLst>
                    <a:ext uri="{9D8B030D-6E8A-4147-A177-3AD203B41FA5}">
                      <a16:colId xmlns:a16="http://schemas.microsoft.com/office/drawing/2014/main" val="3963407651"/>
                    </a:ext>
                  </a:extLst>
                </a:gridCol>
                <a:gridCol w="2599937">
                  <a:extLst>
                    <a:ext uri="{9D8B030D-6E8A-4147-A177-3AD203B41FA5}">
                      <a16:colId xmlns:a16="http://schemas.microsoft.com/office/drawing/2014/main" val="3045651154"/>
                    </a:ext>
                  </a:extLst>
                </a:gridCol>
                <a:gridCol w="2034923">
                  <a:extLst>
                    <a:ext uri="{9D8B030D-6E8A-4147-A177-3AD203B41FA5}">
                      <a16:colId xmlns:a16="http://schemas.microsoft.com/office/drawing/2014/main" val="3490363294"/>
                    </a:ext>
                  </a:extLst>
                </a:gridCol>
              </a:tblGrid>
              <a:tr h="506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ATT&amp;CK ID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Technique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Detected By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275527"/>
                  </a:ext>
                </a:extLst>
              </a:tr>
              <a:tr h="506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T1046</a:t>
                      </a:r>
                    </a:p>
                  </a:txBody>
                  <a:tcPr marL="208621" marR="125172" marT="125172" marB="12517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Network Service Scanning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Suricata + Wazuh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11215"/>
                  </a:ext>
                </a:extLst>
              </a:tr>
              <a:tr h="506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T1110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Brute Force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Wazuh Auth Rules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406460"/>
                  </a:ext>
                </a:extLst>
              </a:tr>
              <a:tr h="72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T1071</a:t>
                      </a:r>
                    </a:p>
                  </a:txBody>
                  <a:tcPr marL="208621" marR="125172" marT="125172" marB="12517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Application Layer Protocol (C2)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Suricata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689172"/>
                  </a:ext>
                </a:extLst>
              </a:tr>
              <a:tr h="506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T1565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Data Manipulation / FIM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Wazuh FIM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750089"/>
                  </a:ext>
                </a:extLst>
              </a:tr>
              <a:tr h="72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T1078</a:t>
                      </a:r>
                    </a:p>
                  </a:txBody>
                  <a:tcPr marL="208621" marR="125172" marT="125172" marB="12517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Valid Accounts (failed logins)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Wazuh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686475"/>
                  </a:ext>
                </a:extLst>
              </a:tr>
              <a:tr h="72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T1059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Command and Scripting Interpreter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Wazuh Sysmon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170420"/>
                  </a:ext>
                </a:extLst>
              </a:tr>
              <a:tr h="506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T1040</a:t>
                      </a:r>
                    </a:p>
                  </a:txBody>
                  <a:tcPr marL="208621" marR="125172" marT="125172" marB="12517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Network Sniffing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Suricata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739086"/>
                  </a:ext>
                </a:extLst>
              </a:tr>
              <a:tr h="72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T1190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Exploit Public-Facing Application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Suricata signatures</a:t>
                      </a:r>
                    </a:p>
                  </a:txBody>
                  <a:tcPr marL="208621" marR="125172" marT="125172" marB="12517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490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653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28DCE-E96F-B03E-F56B-D49A430EB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/>
              <a:t>Cost Analysis: Full SOC Capability Delivered at $3,200 — 98% Below Enterprise Cost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E8F817-D8BD-88BA-DBDC-88BDEA152E90}"/>
              </a:ext>
            </a:extLst>
          </p:cNvPr>
          <p:cNvSpPr txBox="1"/>
          <p:nvPr/>
        </p:nvSpPr>
        <p:spPr>
          <a:xfrm>
            <a:off x="7104063" y="2947121"/>
            <a:ext cx="4537073" cy="336160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spc="50"/>
              <a:t>Budget Summary:</a:t>
            </a:r>
            <a:endParaRPr lang="en-US"/>
          </a:p>
          <a:p>
            <a:pPr indent="-2700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spc="50"/>
          </a:p>
          <a:p>
            <a:pPr indent="-269875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spc="50"/>
              <a:t>Comparison:</a:t>
            </a:r>
          </a:p>
          <a:p>
            <a:pPr indent="-269875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spc="50"/>
              <a:t>Splunk Enterprise SIEM: ~$150,000/year</a:t>
            </a:r>
          </a:p>
          <a:p>
            <a:pPr indent="-269875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spc="50"/>
              <a:t>IBM </a:t>
            </a:r>
            <a:r>
              <a:rPr lang="en-US" sz="1500" spc="50" err="1"/>
              <a:t>QRadar</a:t>
            </a:r>
            <a:r>
              <a:rPr lang="en-US" sz="1500" spc="50"/>
              <a:t>: ~$100,000/year</a:t>
            </a:r>
          </a:p>
          <a:p>
            <a:pPr indent="-269875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spc="50"/>
              <a:t>This project: $3,200 one-time (hardware-inclusive)</a:t>
            </a:r>
          </a:p>
          <a:p>
            <a:pPr indent="-269875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i="1" spc="50"/>
              <a:t>1 USD = 147.19 NPR → Total ≈ NPR 470,608</a:t>
            </a:r>
          </a:p>
          <a:p>
            <a:pPr indent="-2700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spc="50"/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FD57071E-FAFE-FB34-33A3-4EE1865453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0000" y="612039"/>
          <a:ext cx="6049714" cy="562465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4275353">
                  <a:extLst>
                    <a:ext uri="{9D8B030D-6E8A-4147-A177-3AD203B41FA5}">
                      <a16:colId xmlns:a16="http://schemas.microsoft.com/office/drawing/2014/main" val="2477794199"/>
                    </a:ext>
                  </a:extLst>
                </a:gridCol>
                <a:gridCol w="1774361">
                  <a:extLst>
                    <a:ext uri="{9D8B030D-6E8A-4147-A177-3AD203B41FA5}">
                      <a16:colId xmlns:a16="http://schemas.microsoft.com/office/drawing/2014/main" val="2829354756"/>
                    </a:ext>
                  </a:extLst>
                </a:gridCol>
              </a:tblGrid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Cost (USD)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643944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rgbClr val="000000"/>
                          </a:solidFill>
                        </a:rPr>
                        <a:t>Hardware (Servers / VM Hosts)</a:t>
                      </a: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rgbClr val="000000"/>
                          </a:solidFill>
                        </a:rPr>
                        <a:t>$2,000</a:t>
                      </a: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103910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pfSense &amp; Network Setup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$200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718729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rgbClr val="000000"/>
                          </a:solidFill>
                        </a:rPr>
                        <a:t>SIEM &amp; IDS (Wazuh, Suricata)</a:t>
                      </a: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22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419923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SOAR Platform (Shuffle)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$100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025319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rgbClr val="000000"/>
                          </a:solidFill>
                        </a:rPr>
                        <a:t>TheHive, Cortex, MISP</a:t>
                      </a: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22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652718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VirusTotal API (Free tier used)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$0</a:t>
                      </a:r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614355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rgbClr val="000000"/>
                          </a:solidFill>
                        </a:rPr>
                        <a:t>Storage for Logs &amp; Backups</a:t>
                      </a: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rgbClr val="000000"/>
                          </a:solidFill>
                        </a:rPr>
                        <a:t>$400</a:t>
                      </a: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2322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Miscellaneous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$200</a:t>
                      </a:r>
                    </a:p>
                  </a:txBody>
                  <a:tcPr marL="0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313933"/>
                  </a:ext>
                </a:extLst>
              </a:tr>
              <a:tr h="56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22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rgbClr val="000000"/>
                          </a:solidFill>
                        </a:rPr>
                        <a:t>$3,200</a:t>
                      </a:r>
                      <a:endParaRPr lang="en-US" sz="22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82715" marR="165431" marT="82715" marB="827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3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730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6332-C2FD-D42D-06ED-B0A28428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Limitations: Four Constraints Define the Boundaries of This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1A6A8-F29B-B002-3D67-7F670D6A3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US" b="1">
                <a:ea typeface="+mn-lt"/>
                <a:cs typeface="+mn-lt"/>
              </a:rPr>
              <a:t>Limitation 1 — Scalability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Limitation 2 — Hardware Dependency</a:t>
            </a:r>
            <a:endParaRPr lang="en-US"/>
          </a:p>
          <a:p>
            <a:pPr marL="269875" indent="-269875"/>
            <a:r>
              <a:rPr lang="en-US">
                <a:ea typeface="+mn-lt"/>
                <a:cs typeface="+mn-lt"/>
              </a:rPr>
              <a:t>Limitation 3 — Rule Maintenance Overhead</a:t>
            </a:r>
          </a:p>
          <a:p>
            <a:pPr marL="269875" indent="-269875"/>
            <a:r>
              <a:rPr lang="en-US"/>
              <a:t>Limitation 4 - </a:t>
            </a:r>
            <a:r>
              <a:rPr lang="en-US">
                <a:ea typeface="+mn-lt"/>
                <a:cs typeface="+mn-lt"/>
              </a:rPr>
              <a:t>Detection Limitation (Zero-Day Attacks)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59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A694E-FEC6-2973-1A1D-AF62ED975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59450"/>
          </a:xfrm>
        </p:spPr>
        <p:txBody>
          <a:bodyPr anchor="t">
            <a:normAutofit/>
          </a:bodyPr>
          <a:lstStyle/>
          <a:p>
            <a:r>
              <a:rPr lang="en-US" sz="6200">
                <a:ea typeface="+mj-lt"/>
                <a:cs typeface="+mj-lt"/>
              </a:rPr>
              <a:t>Future Work: Four Extensions Will Increase Capability and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F34DDC-5CBF-0CF9-8B2C-CCABE2A57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219405"/>
              </p:ext>
            </p:extLst>
          </p:nvPr>
        </p:nvGraphicFramePr>
        <p:xfrm>
          <a:off x="5232400" y="540000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5167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13D1C-F0BB-64E6-0BC7-E1D936A8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0001"/>
            <a:ext cx="11075080" cy="1809500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Objectives vs. Outcomes: All Four Primary Goals Were Achieved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C558B1C-BC94-07D0-A087-3D39D5BA9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493047"/>
              </p:ext>
            </p:extLst>
          </p:nvPr>
        </p:nvGraphicFramePr>
        <p:xfrm>
          <a:off x="539750" y="2974610"/>
          <a:ext cx="11101390" cy="28883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66545">
                  <a:extLst>
                    <a:ext uri="{9D8B030D-6E8A-4147-A177-3AD203B41FA5}">
                      <a16:colId xmlns:a16="http://schemas.microsoft.com/office/drawing/2014/main" val="1715686131"/>
                    </a:ext>
                  </a:extLst>
                </a:gridCol>
                <a:gridCol w="2897348">
                  <a:extLst>
                    <a:ext uri="{9D8B030D-6E8A-4147-A177-3AD203B41FA5}">
                      <a16:colId xmlns:a16="http://schemas.microsoft.com/office/drawing/2014/main" val="507017764"/>
                    </a:ext>
                  </a:extLst>
                </a:gridCol>
                <a:gridCol w="2861672">
                  <a:extLst>
                    <a:ext uri="{9D8B030D-6E8A-4147-A177-3AD203B41FA5}">
                      <a16:colId xmlns:a16="http://schemas.microsoft.com/office/drawing/2014/main" val="1531276733"/>
                    </a:ext>
                  </a:extLst>
                </a:gridCol>
                <a:gridCol w="2375825">
                  <a:extLst>
                    <a:ext uri="{9D8B030D-6E8A-4147-A177-3AD203B41FA5}">
                      <a16:colId xmlns:a16="http://schemas.microsoft.com/office/drawing/2014/main" val="915355790"/>
                    </a:ext>
                  </a:extLst>
                </a:gridCol>
              </a:tblGrid>
              <a:tr h="432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Objective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Target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Outcome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Status</a:t>
                      </a:r>
                    </a:p>
                  </a:txBody>
                  <a:tcPr marL="99488" marR="99488" marT="49744" marB="49744" anchor="ctr"/>
                </a:tc>
                <a:extLst>
                  <a:ext uri="{0D108BD9-81ED-4DB2-BD59-A6C34878D82A}">
                    <a16:rowId xmlns:a16="http://schemas.microsoft.com/office/drawing/2014/main" val="2066285729"/>
                  </a:ext>
                </a:extLst>
              </a:tr>
              <a:tr h="432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Reduce MTTD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&lt; 30 seconds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Average 6.5 seconds</a:t>
                      </a:r>
                      <a:endParaRPr lang="en-US" sz="1900"/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 Exceeded</a:t>
                      </a:r>
                    </a:p>
                  </a:txBody>
                  <a:tcPr marL="99488" marR="99488" marT="49744" marB="49744" anchor="ctr"/>
                </a:tc>
                <a:extLst>
                  <a:ext uri="{0D108BD9-81ED-4DB2-BD59-A6C34878D82A}">
                    <a16:rowId xmlns:a16="http://schemas.microsoft.com/office/drawing/2014/main" val="3718878502"/>
                  </a:ext>
                </a:extLst>
              </a:tr>
              <a:tr h="432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Reduce MTTR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&lt; 5 minutes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Average 47 seconds</a:t>
                      </a:r>
                      <a:endParaRPr lang="en-US" sz="1900"/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 Exceeded</a:t>
                      </a:r>
                    </a:p>
                  </a:txBody>
                  <a:tcPr marL="99488" marR="99488" marT="49744" marB="49744" anchor="ctr"/>
                </a:tc>
                <a:extLst>
                  <a:ext uri="{0D108BD9-81ED-4DB2-BD59-A6C34878D82A}">
                    <a16:rowId xmlns:a16="http://schemas.microsoft.com/office/drawing/2014/main" val="2489117662"/>
                  </a:ext>
                </a:extLst>
              </a:tr>
              <a:tr h="432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Unify SOC tooling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7 tools integrated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7/7 tools operational</a:t>
                      </a:r>
                      <a:endParaRPr lang="en-US" sz="1900"/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 Met</a:t>
                      </a:r>
                    </a:p>
                  </a:txBody>
                  <a:tcPr marL="99488" marR="99488" marT="49744" marB="49744" anchor="ctr"/>
                </a:tc>
                <a:extLst>
                  <a:ext uri="{0D108BD9-81ED-4DB2-BD59-A6C34878D82A}">
                    <a16:rowId xmlns:a16="http://schemas.microsoft.com/office/drawing/2014/main" val="377810788"/>
                  </a:ext>
                </a:extLst>
              </a:tr>
              <a:tr h="72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Automate incident response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SOAR-driven workflows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100% of test cases automated</a:t>
                      </a:r>
                      <a:endParaRPr lang="en-US" sz="1900"/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 Met</a:t>
                      </a:r>
                    </a:p>
                  </a:txBody>
                  <a:tcPr marL="99488" marR="99488" marT="49744" marB="49744" anchor="ctr"/>
                </a:tc>
                <a:extLst>
                  <a:ext uri="{0D108BD9-81ED-4DB2-BD59-A6C34878D82A}">
                    <a16:rowId xmlns:a16="http://schemas.microsoft.com/office/drawing/2014/main" val="1636829747"/>
                  </a:ext>
                </a:extLst>
              </a:tr>
              <a:tr h="432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Cost effectiveness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Under $5,000</a:t>
                      </a:r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$3,200 total</a:t>
                      </a:r>
                      <a:endParaRPr lang="en-US" sz="1900"/>
                    </a:p>
                  </a:txBody>
                  <a:tcPr marL="99488" marR="99488" marT="49744" marB="497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 Met</a:t>
                      </a:r>
                    </a:p>
                  </a:txBody>
                  <a:tcPr marL="99488" marR="99488" marT="49744" marB="49744" anchor="ctr"/>
                </a:tc>
                <a:extLst>
                  <a:ext uri="{0D108BD9-81ED-4DB2-BD59-A6C34878D82A}">
                    <a16:rowId xmlns:a16="http://schemas.microsoft.com/office/drawing/2014/main" val="827418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261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4849D-F055-7B86-80EC-F3F36E32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59450"/>
          </a:xfrm>
        </p:spPr>
        <p:txBody>
          <a:bodyPr anchor="t">
            <a:normAutofit/>
          </a:bodyPr>
          <a:lstStyle/>
          <a:p>
            <a:r>
              <a:rPr lang="en-US" sz="6800">
                <a:ea typeface="+mj-lt"/>
                <a:cs typeface="+mj-lt"/>
              </a:rPr>
              <a:t>Project Timeline: All Core Phases Completed on Schedule</a:t>
            </a:r>
            <a:endParaRPr lang="en-US" sz="680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37C0978-722D-16D0-6A38-CF10C03E6E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981438"/>
              </p:ext>
            </p:extLst>
          </p:nvPr>
        </p:nvGraphicFramePr>
        <p:xfrm>
          <a:off x="5506528" y="546339"/>
          <a:ext cx="5816089" cy="5759455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139862">
                  <a:extLst>
                    <a:ext uri="{9D8B030D-6E8A-4147-A177-3AD203B41FA5}">
                      <a16:colId xmlns:a16="http://schemas.microsoft.com/office/drawing/2014/main" val="2256620225"/>
                    </a:ext>
                  </a:extLst>
                </a:gridCol>
                <a:gridCol w="1374998">
                  <a:extLst>
                    <a:ext uri="{9D8B030D-6E8A-4147-A177-3AD203B41FA5}">
                      <a16:colId xmlns:a16="http://schemas.microsoft.com/office/drawing/2014/main" val="2208173087"/>
                    </a:ext>
                  </a:extLst>
                </a:gridCol>
                <a:gridCol w="832243">
                  <a:extLst>
                    <a:ext uri="{9D8B030D-6E8A-4147-A177-3AD203B41FA5}">
                      <a16:colId xmlns:a16="http://schemas.microsoft.com/office/drawing/2014/main" val="542118104"/>
                    </a:ext>
                  </a:extLst>
                </a:gridCol>
                <a:gridCol w="1468986">
                  <a:extLst>
                    <a:ext uri="{9D8B030D-6E8A-4147-A177-3AD203B41FA5}">
                      <a16:colId xmlns:a16="http://schemas.microsoft.com/office/drawing/2014/main" val="1454240110"/>
                    </a:ext>
                  </a:extLst>
                </a:gridCol>
              </a:tblGrid>
              <a:tr h="360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Phase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Dates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Duration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6840"/>
                  </a:ext>
                </a:extLst>
              </a:tr>
              <a:tr h="360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Preliminary Research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Nov 30 – Dec 5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6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720922"/>
                  </a:ext>
                </a:extLst>
              </a:tr>
              <a:tr h="360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Infrastructure Preparation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Dec 6 – Dec 13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8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070422"/>
                  </a:ext>
                </a:extLst>
              </a:tr>
              <a:tr h="538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Tool Installation &amp; Configuration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Dec 14 – Dec 21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8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50083"/>
                  </a:ext>
                </a:extLst>
              </a:tr>
              <a:tr h="360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System Integration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Dec 22 – Dec 29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8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895830"/>
                  </a:ext>
                </a:extLst>
              </a:tr>
              <a:tr h="360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Issue Resolution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Dec 30 – Jan 3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5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000281"/>
                  </a:ext>
                </a:extLst>
              </a:tr>
              <a:tr h="360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Testing &amp; Verification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Jan 4 – Jan 20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16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774780"/>
                  </a:ext>
                </a:extLst>
              </a:tr>
              <a:tr h="538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Final Reporting &amp; Documentation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Jan 21 – Jan 29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8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926148"/>
                  </a:ext>
                </a:extLst>
              </a:tr>
              <a:tr h="538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Buffer &amp; Initial Submission Prep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Feb 1 – Feb 14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14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544324"/>
                  </a:ext>
                </a:extLst>
              </a:tr>
              <a:tr h="538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Extended Testing &amp; Optimization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Feb 15 – Mar 5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19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98545"/>
                  </a:ext>
                </a:extLst>
              </a:tr>
              <a:tr h="538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Security Tuning &amp; Rule Updates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Mar 6 – Mar 15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10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439673"/>
                  </a:ext>
                </a:extLst>
              </a:tr>
              <a:tr h="538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Final Review &amp; Presentation Prep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Mar 16 – Mar 25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10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Completed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40129"/>
                  </a:ext>
                </a:extLst>
              </a:tr>
              <a:tr h="360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Final Submission Window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Mar 26 – Apr 1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7 days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 Final</a:t>
                      </a:r>
                    </a:p>
                  </a:txBody>
                  <a:tcPr marL="99126" marR="76250" marT="76250" marB="762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786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042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022D9-91F5-4ECB-0F0E-C4C0DCA9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59450"/>
          </a:xfrm>
        </p:spPr>
        <p:txBody>
          <a:bodyPr anchor="t">
            <a:normAutofit/>
          </a:bodyPr>
          <a:lstStyle/>
          <a:p>
            <a:r>
              <a:rPr lang="en-US" sz="5400"/>
              <a:t>Conclusions</a:t>
            </a:r>
            <a:br>
              <a:rPr lang="en-US" sz="3500"/>
            </a:br>
            <a:r>
              <a:rPr lang="en-US" sz="3500">
                <a:ea typeface="+mj-lt"/>
                <a:cs typeface="+mj-lt"/>
              </a:rPr>
              <a:t>Open-source tools, properly integrated and automated, deliver enterprise-grade SOC capability — proving that cost is no longer a barrier to effective security operations.</a:t>
            </a:r>
            <a:br>
              <a:rPr lang="en-US" sz="3500"/>
            </a:br>
            <a:endParaRPr lang="en-US" sz="35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73D29B-82D6-41E7-D3BA-F4D5D01120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4117940"/>
              </p:ext>
            </p:extLst>
          </p:nvPr>
        </p:nvGraphicFramePr>
        <p:xfrm>
          <a:off x="5493359" y="550438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3258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CA65C-1C24-F168-F10C-D5271AC77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59450"/>
          </a:xfrm>
        </p:spPr>
        <p:txBody>
          <a:bodyPr anchor="t">
            <a:normAutofit/>
          </a:bodyPr>
          <a:lstStyle/>
          <a:p>
            <a:r>
              <a:rPr lang="en-US" sz="7500">
                <a:ea typeface="+mj-lt"/>
                <a:cs typeface="+mj-lt"/>
              </a:rPr>
              <a:t> References</a:t>
            </a:r>
          </a:p>
        </p:txBody>
      </p:sp>
      <p:graphicFrame>
        <p:nvGraphicFramePr>
          <p:cNvPr id="27" name="TextBox 3">
            <a:extLst>
              <a:ext uri="{FF2B5EF4-FFF2-40B4-BE49-F238E27FC236}">
                <a16:creationId xmlns:a16="http://schemas.microsoft.com/office/drawing/2014/main" id="{D9AA7036-3B12-B138-78D4-19C17CFFD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646644"/>
              </p:ext>
            </p:extLst>
          </p:nvPr>
        </p:nvGraphicFramePr>
        <p:xfrm>
          <a:off x="5232400" y="540000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6776265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GlowVTI</vt:lpstr>
      <vt:lpstr>Integration of Open-SourceSecurity Tools for a Unified SOC Framework   </vt:lpstr>
      <vt:lpstr>The Rising Threat Landscape Demands a Smarter SOC</vt:lpstr>
      <vt:lpstr>Three Critical Gaps Prevent Effective SOC Operations</vt:lpstr>
      <vt:lpstr>Can open-source tools, properly integrated, deliver enterprise-grade SOC capability at minimal cost?</vt:lpstr>
      <vt:lpstr>Four Measurable Objectives Guide This Project</vt:lpstr>
      <vt:lpstr>The System Architecture Integrates All Components Into a Single Pipeline</vt:lpstr>
      <vt:lpstr>WorkFlow</vt:lpstr>
      <vt:lpstr>Network Topology: Segmented Design Ensures Full Traffic Visibility</vt:lpstr>
      <vt:lpstr>pfSense Provides Perimeter Security and Structured Traffic Logging</vt:lpstr>
      <vt:lpstr>Suricata Detects Network-Level Threats in Real Time</vt:lpstr>
      <vt:lpstr>Wazuh SIEM Centralizes All Logs and Triggers Correlation Alerts</vt:lpstr>
      <vt:lpstr>Shuffle SOAR Automates the Entire Enrichment and Response Workflow</vt:lpstr>
      <vt:lpstr>TheHive and Cortex Close the Loop on Incident Management</vt:lpstr>
      <vt:lpstr>MISP Enables Community-Sourced Threat Intelligence Sharing</vt:lpstr>
      <vt:lpstr>AlienVault OTX and VirusTotal Validate IOCs Against Global Threat Data</vt:lpstr>
      <vt:lpstr>The Eight-Step Automated Pipeline Runs From Alert to Resolution in Under 60 Seconds</vt:lpstr>
      <vt:lpstr>Testing Methodology: Controlled Simulations Cover Four Attack Categories</vt:lpstr>
      <vt:lpstr>Detection Results: System Caught All Four Attack Categories with High Accuracy</vt:lpstr>
      <vt:lpstr>Automation Reduced Response Time From ~15 Minutes to Under 60 Seconds</vt:lpstr>
      <vt:lpstr>SOAR Workflow Results: Discord Alerts Confirmed Real-Time Threat Notification</vt:lpstr>
      <vt:lpstr>TheHive Case Management Confirmed End-to-End Incident Accountability</vt:lpstr>
      <vt:lpstr>Wazuh MITRE ATT&amp;CK Mapping Validates Detection Coverage</vt:lpstr>
      <vt:lpstr>Cost Analysis: Full SOC Capability Delivered at $3,200 — 98% Below Enterprise Cost</vt:lpstr>
      <vt:lpstr>Limitations: Four Constraints Define the Boundaries of This Work</vt:lpstr>
      <vt:lpstr>Future Work: Four Extensions Will Increase Capability and Scope</vt:lpstr>
      <vt:lpstr>Objectives vs. Outcomes: All Four Primary Goals Were Achieved</vt:lpstr>
      <vt:lpstr>Project Timeline: All Core Phases Completed on Schedule</vt:lpstr>
      <vt:lpstr>Conclusions Open-source tools, properly integrated and automated, deliver enterprise-grade SOC capability — proving that cost is no longer a barrier to effective security operations. </vt:lpstr>
      <vt:lpstr>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</cp:revision>
  <dcterms:created xsi:type="dcterms:W3CDTF">2026-03-25T04:15:19Z</dcterms:created>
  <dcterms:modified xsi:type="dcterms:W3CDTF">2026-03-31T15:02:28Z</dcterms:modified>
</cp:coreProperties>
</file>